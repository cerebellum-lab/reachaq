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at the level of what the operator notices. The one sentence worth landing: reach-training watched and recorded, reachAQ decides and acts inside the same reach.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that we did not start over. reachAQ changed the hardware target, added stimulation and signal visualisation, and made the pose stream fast enough to act on. Everything underneath is auto-trainer's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so the later numbers have something to be measured against. The user-facing consequence is the line that matters: before, pose was a recording product; now it is a control input. Keep 5 ms described as a budget and a tail figure, never an average.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words-before-the-graph slide. Technical detail for the members who want it: partial batch and the lean predict path need the PyTorch engine, because the TensorFlow graph fixes its batch size; the ROI crop from 256 to 128 px is opt-in and worth about 2.6x on the forward pass; the decode rewrite and the freshness drain are always on and model-independent. The freshness drain alone took end-to-end from 17.6 to 13.9 ms and cut frames the loop could not hand over from 35.2% to 0.7%.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under a 16-process load the reflex loop's worst case went from 6.05 ms, which breaks the budget, to 0.155 ms with zero missed deadlines and the full 900 Hz cadence restored. No PREEMPT_RT kernel and no core pinning — both measured, both declined. Right: the three pose-stream changes, each shown against its own before. Units differ between rows, which is why they are labelled per row rather than sharing an axis. All figures are rig measurements on this hardware, not claims about other cards.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is a menu, not a winner. A user optimising for a tight closed loop picks differently from one optimising for keypoint accuracy in later analysis. The per-backbone threshold matters: a cspnext_s never scores above 0.33, so a single global threshold would hold the reach flag permanently false.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flags: a default rig gets the always-on wins, the decode rewrite and the freshness drain, plus the Tier 1 scheduling. The partial batch and lean predict path need the PyTorch backend selected, and the ROI crop is opt-in.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sync modes: auto, backplane, external, independent. Compatible PXI cards share PXI_CLK10, a backplane start trigger and a routed master sample clock. Devices resolve by product and serial, so a changed NI-DAQmx alias never silently rebinds to the wrong card. Tone confirmation cross-checks commanded tones against the pulses actually observed.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for a new user is that this replaces post-hoc plotting. A decimated FSR trace is useless for behavioural analysis, so samples are forwarded unthrottled and an armed session gains roughly 166 rows a second. Worth flagging out loud: there is no microphone channel in the system today.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pinning behaviour is the part worth dwelling on. It is what stops an edit to a shared phase from quietly changing an experiment that was already validated.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order — launch with --demo or toggle Tools &gt; Demo Mode while idle; show both camera panels carrying their own overlay; show the NI-DAQ signal stream; drive the pellet device by hand; open the protocol editor and the experiment sidebar; start a recording and let trials run; stop and show the session directory with its DEMO marker. Point at the red banner — it is there so nobody mistakes a demo session for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58368" y="2240280"/>
            <a:ext cx="10874959" cy="1234440"/>
          </a:xfrm>
        </p:spPr>
        <p:txBody>
          <a:bodyPr/>
          <a:lstStyle/>
          <a:p>
            <a:pPr algn="l"/>
            <a:r>
              <a:rPr sz="5400" b="1" i="0">
                <a:solidFill>
                  <a:srgbClr val="1E242B"/>
                </a:solidFill>
                <a:latin typeface="Segoe UI"/>
              </a:rPr>
              <a:t>reachAQ</a:t>
            </a:r>
          </a:p>
        </p:txBody>
      </p:sp>
      <p:sp>
        <p:nvSpPr>
          <p:cNvPr id="3" name="Subtitle 2"/>
          <p:cNvSpPr>
            <a:spLocks noGrp="1"/>
          </p:cNvSpPr>
          <p:nvPr>
            <p:ph type="subTitle" idx="1"/>
          </p:nvPr>
        </p:nvSpPr>
        <p:spPr>
          <a:xfrm>
            <a:off x="658368" y="3520440"/>
            <a:ext cx="8686800" cy="914400"/>
          </a:xfrm>
        </p:spPr>
        <p:txBody>
          <a:bodyPr wrap="square"/>
          <a:lstStyle/>
          <a:p>
            <a:pPr algn="l"/>
            <a:r>
              <a:rPr sz="1700" b="0" i="0">
                <a:solidFill>
                  <a:srgbClr val="6B727B"/>
                </a:solidFill>
                <a:latin typeface="Segoe UI"/>
              </a:rPr>
              <a:t>Automated mouse reach acquisition — what changed, and what it costs in milliseconds</a:t>
            </a:r>
          </a:p>
        </p:txBody>
      </p:sp>
      <p:sp>
        <p:nvSpPr>
          <p:cNvPr id="4" name="Rectangle 3"/>
          <p:cNvSpPr/>
          <p:nvPr/>
        </p:nvSpPr>
        <p:spPr>
          <a:xfrm>
            <a:off x="658368" y="1965960"/>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changed from reach-training</a:t>
            </a:r>
          </a:p>
        </p:txBody>
      </p:sp>
      <p:sp>
        <p:nvSpPr>
          <p:cNvPr id="3" name="Content Placeholder 2"/>
          <p:cNvSpPr>
            <a:spLocks noGrp="1"/>
          </p:cNvSpPr>
          <p:nvPr>
            <p:ph idx="1" sz="half"/>
          </p:nvPr>
        </p:nvSpPr>
        <p:spPr>
          <a:xfrm>
            <a:off x="658368" y="2487168"/>
            <a:ext cx="5186019" cy="3593592"/>
          </a:xfrm>
        </p:spPr>
        <p:txBody>
          <a:bodyPr wrap="square"/>
          <a:lstStyle/>
          <a:p>
            <a:pPr>
              <a:spcAft>
                <a:spcPts val="1100"/>
              </a:spcAft>
            </a:pPr>
            <a:r>
              <a:rPr sz="1350" b="0" i="0">
                <a:solidFill>
                  <a:srgbClr val="1E242B"/>
                </a:solidFill>
                <a:latin typeface="Segoe UI"/>
              </a:rPr>
              <a:t>Reach detected by a brightness threshold inside a drawn ROI</a:t>
            </a:r>
          </a:p>
          <a:p>
            <a:pPr>
              <a:spcAft>
                <a:spcPts val="1100"/>
              </a:spcAft>
            </a:pPr>
            <a:r>
              <a:rPr sz="1350" b="0" i="0">
                <a:solidFill>
                  <a:srgbClr val="1E242B"/>
                </a:solidFill>
                <a:latin typeface="Segoe UI"/>
              </a:rPr>
              <a:t>Pellet arm driven by an Arduino over USB serial</a:t>
            </a:r>
          </a:p>
          <a:p>
            <a:pPr>
              <a:spcAft>
                <a:spcPts val="1100"/>
              </a:spcAft>
            </a:pPr>
            <a:r>
              <a:rPr sz="1350" b="0" i="0">
                <a:solidFill>
                  <a:srgbClr val="1E242B"/>
                </a:solidFill>
                <a:latin typeface="Segoe UI"/>
              </a:rPr>
              <a:t>Timing owned by a Python loop on the host</a:t>
            </a:r>
          </a:p>
          <a:p>
            <a:pPr>
              <a:spcAft>
                <a:spcPts val="1100"/>
              </a:spcAft>
            </a:pPr>
            <a:r>
              <a:rPr sz="1350" b="0" i="0">
                <a:solidFill>
                  <a:srgbClr val="1E242B"/>
                </a:solidFill>
                <a:latin typeface="Segoe UI"/>
              </a:rPr>
              <a:t>Signals inspected afterwards, from files</a:t>
            </a:r>
          </a:p>
          <a:p>
            <a:pPr>
              <a:spcAft>
                <a:spcPts val="1100"/>
              </a:spcAft>
            </a:pPr>
            <a:r>
              <a:rPr sz="1350" b="0" i="0">
                <a:solidFill>
                  <a:srgbClr val="1E242B"/>
                </a:solidFill>
                <a:latin typeface="Segoe UI"/>
              </a:rPr>
              <a:t>One flat protocol per experiment, delays drawn live</a:t>
            </a:r>
          </a:p>
        </p:txBody>
      </p:sp>
      <p:sp>
        <p:nvSpPr>
          <p:cNvPr id="4" name="Content Placeholder 3"/>
          <p:cNvSpPr>
            <a:spLocks noGrp="1"/>
          </p:cNvSpPr>
          <p:nvPr>
            <p:ph idx="2" sz="half"/>
          </p:nvPr>
        </p:nvSpPr>
        <p:spPr>
          <a:xfrm>
            <a:off x="6347307" y="2487168"/>
            <a:ext cx="5186019" cy="3593592"/>
          </a:xfrm>
        </p:spPr>
        <p:txBody>
          <a:bodyPr wrap="square"/>
          <a:lstStyle/>
          <a:p>
            <a:pPr>
              <a:spcAft>
                <a:spcPts val="1100"/>
              </a:spcAft>
            </a:pPr>
            <a:r>
              <a:rPr sz="1350" b="0" i="0">
                <a:solidFill>
                  <a:srgbClr val="1E242B"/>
                </a:solidFill>
                <a:latin typeface="Segoe UI"/>
              </a:rPr>
              <a:t>Two closed loops — a fast ROI reflex, and machine vision on the pose stream</a:t>
            </a:r>
          </a:p>
          <a:p>
            <a:pPr>
              <a:spcAft>
                <a:spcPts val="1100"/>
              </a:spcAft>
            </a:pPr>
            <a:r>
              <a:rPr sz="1350" b="0" i="0">
                <a:solidFill>
                  <a:srgbClr val="1E242B"/>
                </a:solidFill>
                <a:latin typeface="Segoe UI"/>
              </a:rPr>
              <a:t>Pellet arm on a CAN bus, with firmware capability checks and FSR pressure</a:t>
            </a:r>
          </a:p>
          <a:p>
            <a:pPr>
              <a:spcAft>
                <a:spcPts val="1100"/>
              </a:spcAft>
            </a:pPr>
            <a:r>
              <a:rPr sz="1350" b="0" i="0">
                <a:solidFill>
                  <a:srgbClr val="1E242B"/>
                </a:solidFill>
                <a:latin typeface="Segoe UI"/>
              </a:rPr>
              <a:t>Timing owned by hardware-timed NI-DAQ tasks and a real-time stim loop</a:t>
            </a:r>
          </a:p>
          <a:p>
            <a:pPr>
              <a:spcAft>
                <a:spcPts val="1100"/>
              </a:spcAft>
            </a:pPr>
            <a:r>
              <a:rPr sz="1350" b="0" i="0">
                <a:solidFill>
                  <a:srgbClr val="1E242B"/>
                </a:solidFill>
                <a:latin typeface="Segoe UI"/>
              </a:rPr>
              <a:t>Signals plotted live during the session, and recorded unfiltered</a:t>
            </a:r>
          </a:p>
          <a:p>
            <a:pPr>
              <a:spcAft>
                <a:spcPts val="1100"/>
              </a:spcAft>
            </a:pPr>
            <a:r>
              <a:rPr sz="1350" b="0" i="0">
                <a:solidFill>
                  <a:srgbClr val="1E242B"/>
                </a:solidFill>
                <a:latin typeface="Segoe UI"/>
              </a:rPr>
              <a:t>Experiments composed from reusable trial sets, with reproducible draws</a:t>
            </a: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Same experiment. The difference is what the system can do while the reach is still happening.</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reach-training</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reachAQ</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came from auto-trainer</a:t>
            </a:r>
          </a:p>
        </p:txBody>
      </p:sp>
      <p:sp>
        <p:nvSpPr>
          <p:cNvPr id="3" name="Content Placeholder 2"/>
          <p:cNvSpPr>
            <a:spLocks noGrp="1"/>
          </p:cNvSpPr>
          <p:nvPr>
            <p:ph idx="1"/>
          </p:nvPr>
        </p:nvSpPr>
        <p:spPr>
          <a:xfrm>
            <a:off x="658368" y="2057400"/>
            <a:ext cx="10874959" cy="4023360"/>
          </a:xfrm>
        </p:spPr>
        <p:txBody>
          <a:bodyPr wrap="square"/>
          <a:lstStyle/>
          <a:p>
            <a:pPr>
              <a:spcAft>
                <a:spcPts val="1300"/>
              </a:spcAft>
            </a:pPr>
            <a:r>
              <a:rPr sz="1500" b="0" i="0">
                <a:solidFill>
                  <a:srgbClr val="1E242B"/>
                </a:solidFill>
                <a:latin typeface="Segoe UI"/>
              </a:rPr>
              <a:t>The modular package split — core, video, device, inference, behavior, model, pyside — which is why hardware can be swapped without touching the rest</a:t>
            </a:r>
          </a:p>
          <a:p>
            <a:pPr>
              <a:spcAft>
                <a:spcPts val="1300"/>
              </a:spcAft>
            </a:pPr>
            <a:r>
              <a:rPr sz="1500" b="0" i="0">
                <a:solidFill>
                  <a:srgbClr val="1E242B"/>
                </a:solidFill>
                <a:latin typeface="Segoe UI"/>
              </a:rPr>
              <a:t>Per-process video capture with a shared synchronized frame index, so frame N means the same instant on every camera</a:t>
            </a:r>
          </a:p>
          <a:p>
            <a:pPr>
              <a:spcAft>
                <a:spcPts val="1300"/>
              </a:spcAft>
            </a:pPr>
            <a:r>
              <a:rPr sz="1500" b="0" i="0">
                <a:solidFill>
                  <a:srgbClr val="1E242B"/>
                </a:solidFill>
                <a:latin typeface="Segoe UI"/>
              </a:rPr>
              <a:t>Pose inference and FLIR stereo calibration, already integrated into the application rather than run afterwards</a:t>
            </a:r>
          </a:p>
          <a:p>
            <a:pPr>
              <a:spcAft>
                <a:spcPts val="1300"/>
              </a:spcAft>
            </a:pPr>
            <a:r>
              <a:rPr sz="1500" b="0" i="0">
                <a:solidFill>
                  <a:srgbClr val="1E242B"/>
                </a:solidFill>
                <a:latin typeface="Segoe UI"/>
              </a:rPr>
              <a:t>The CAN device abstraction, and the project, session and metadata structure that makes a recording self-describing</a:t>
            </a:r>
          </a:p>
          <a:p>
            <a:pPr>
              <a:spcAft>
                <a:spcPts val="1300"/>
              </a:spcAft>
            </a:pPr>
            <a:r>
              <a:rPr sz="1500" b="0" i="0">
                <a:solidFill>
                  <a:srgbClr val="1E242B"/>
                </a:solidFill>
                <a:latin typeface="Segoe UI"/>
              </a:rPr>
              <a:t>The PySide6 UI layer and its panel patterns</a:t>
            </a: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reachAQ is built on auto-trainer, not beside it. The architecture and most of the runtime are theirs.</a:t>
            </a: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Why pose could not close a loop before</a:t>
            </a:r>
          </a:p>
        </p:txBody>
      </p:sp>
      <p:sp>
        <p:nvSpPr>
          <p:cNvPr id="3" name="Content Placeholder 2"/>
          <p:cNvSpPr>
            <a:spLocks noGrp="1"/>
          </p:cNvSpPr>
          <p:nvPr>
            <p:ph idx="1" sz="half"/>
          </p:nvPr>
        </p:nvSpPr>
        <p:spPr>
          <a:xfrm>
            <a:off x="658368" y="2487168"/>
            <a:ext cx="5186019" cy="3593592"/>
          </a:xfrm>
        </p:spPr>
        <p:txBody>
          <a:bodyPr wrap="square"/>
          <a:lstStyle/>
          <a:p>
            <a:pPr>
              <a:spcAft>
                <a:spcPts val="1100"/>
              </a:spcAft>
            </a:pPr>
            <a:r>
              <a:rPr sz="1350" b="0" i="0">
                <a:solidFill>
                  <a:srgbClr val="1E242B"/>
                </a:solidFill>
                <a:latin typeface="Segoe UI"/>
              </a:rPr>
              <a:t>Reach cameras run at 150 fps — a 6.667 ms per-frame budget for the pose stream</a:t>
            </a:r>
          </a:p>
          <a:p>
            <a:pPr>
              <a:spcAft>
                <a:spcPts val="1100"/>
              </a:spcAft>
            </a:pPr>
            <a:r>
              <a:rPr sz="1350" b="0" i="0">
                <a:solidFill>
                  <a:srgbClr val="1E242B"/>
                </a:solidFill>
                <a:latin typeface="Segoe UI"/>
              </a:rPr>
              <a:t>The stim camera runs at 900 Hz — a 5 ms budget for the reflex that fires the laser. That is a design target and a tail figure, not an average</a:t>
            </a:r>
          </a:p>
          <a:p>
            <a:pPr>
              <a:spcAft>
                <a:spcPts val="1100"/>
              </a:spcAft>
            </a:pPr>
            <a:r>
              <a:rPr sz="1350" b="0" i="0">
                <a:solidFill>
                  <a:srgbClr val="1E242B"/>
                </a:solidFill>
                <a:latin typeface="Segoe UI"/>
              </a:rPr>
              <a:t>The reflex detector's own compute is under 0.1 ms, so its problem was never arithmetic — it was the OS delivering it on time</a:t>
            </a:r>
          </a:p>
        </p:txBody>
      </p:sp>
      <p:sp>
        <p:nvSpPr>
          <p:cNvPr id="4" name="Content Placeholder 3"/>
          <p:cNvSpPr>
            <a:spLocks noGrp="1"/>
          </p:cNvSpPr>
          <p:nvPr>
            <p:ph idx="2" sz="half"/>
          </p:nvPr>
        </p:nvSpPr>
        <p:spPr>
          <a:xfrm>
            <a:off x="6347307" y="2487168"/>
            <a:ext cx="5186019" cy="3593592"/>
          </a:xfrm>
        </p:spPr>
        <p:txBody>
          <a:bodyPr wrap="square"/>
          <a:lstStyle/>
          <a:p>
            <a:pPr>
              <a:spcAft>
                <a:spcPts val="1100"/>
              </a:spcAft>
            </a:pPr>
            <a:r>
              <a:rPr sz="1350" b="0" i="0">
                <a:solidFill>
                  <a:srgbClr val="1E242B"/>
                </a:solidFill>
                <a:latin typeface="Segoe UI"/>
              </a:rPr>
              <a:t>DeepLabCut on TensorFlow with ResNet-50 cost 54.8 ms per batch — about 18 Hz</a:t>
            </a:r>
          </a:p>
          <a:p>
            <a:pPr>
              <a:spcAft>
                <a:spcPts val="1100"/>
              </a:spcAft>
            </a:pPr>
            <a:r>
              <a:rPr sz="1350" b="0" i="0">
                <a:solidFill>
                  <a:srgbClr val="1E242B"/>
                </a:solidFill>
                <a:latin typeface="Segoe UI"/>
              </a:rPr>
              <a:t>That was the largest single latency term in the system, and roughly eight times over the frame budget</a:t>
            </a:r>
          </a:p>
          <a:p>
            <a:pPr>
              <a:spcAft>
                <a:spcPts val="1100"/>
              </a:spcAft>
            </a:pPr>
            <a:r>
              <a:rPr sz="1350" b="0" i="0">
                <a:solidFill>
                  <a:srgbClr val="1E242B"/>
                </a:solidFill>
                <a:latin typeface="Segoe UI"/>
              </a:rPr>
              <a:t>Pose could describe behaviour afterwards, but nothing could be decided from it while the reach was happening</a:t>
            </a: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Two cameras, two deadlines. The pose path missed its by a factor of eight.</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What has to be fast</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Where it started</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we changed</a:t>
            </a:r>
          </a:p>
        </p:txBody>
      </p:sp>
      <p:sp>
        <p:nvSpPr>
          <p:cNvPr id="3" name="Content Placeholder 2"/>
          <p:cNvSpPr>
            <a:spLocks noGrp="1"/>
          </p:cNvSpPr>
          <p:nvPr>
            <p:ph idx="1"/>
          </p:nvPr>
        </p:nvSpPr>
        <p:spPr>
          <a:xfrm>
            <a:off x="658368" y="2057400"/>
            <a:ext cx="10874959" cy="4023360"/>
          </a:xfrm>
        </p:spPr>
        <p:txBody>
          <a:bodyPr wrap="square"/>
          <a:lstStyle/>
          <a:p>
            <a:pPr>
              <a:spcAft>
                <a:spcPts val="1300"/>
              </a:spcAft>
            </a:pPr>
            <a:r>
              <a:rPr sz="1500" b="0" i="0">
                <a:solidFill>
                  <a:srgbClr val="1E242B"/>
                </a:solidFill>
                <a:latin typeface="Segoe UI"/>
              </a:rPr>
              <a:t>Split the work in two. The reflex loop keeps its millisecond deadline; the pose stream is allowed to run slower than the cameras, because it informs behaviour rather than firing hardware</a:t>
            </a:r>
          </a:p>
          <a:p>
            <a:pPr>
              <a:spcAft>
                <a:spcPts val="1300"/>
              </a:spcAft>
            </a:pPr>
            <a:r>
              <a:rPr sz="1500" b="0" i="0">
                <a:solidFill>
                  <a:srgbClr val="1E242B"/>
                </a:solidFill>
                <a:latin typeface="Segoe UI"/>
              </a:rPr>
              <a:t>Gave the reflex loop real-time scheduling (SCHED_FIFO) and a performance CPU governor, so a busy machine cannot delay it</a:t>
            </a:r>
          </a:p>
          <a:p>
            <a:pPr>
              <a:spcAft>
                <a:spcPts val="1300"/>
              </a:spcAft>
            </a:pPr>
            <a:r>
              <a:rPr sz="1500" b="0" i="0">
                <a:solidFill>
                  <a:srgbClr val="1E242B"/>
                </a:solidFill>
                <a:latin typeface="Segoe UI"/>
              </a:rPr>
              <a:t>Stopped padding the inference batch — run the 2 real frames instead of a padded 6 — and rewrote the CPU decode to use argmax and numpy instead of a sort and pandas</a:t>
            </a:r>
          </a:p>
          <a:p>
            <a:pPr>
              <a:spcAft>
                <a:spcPts val="1300"/>
              </a:spcAft>
            </a:pPr>
            <a:r>
              <a:rPr sz="1500" b="0" i="0">
                <a:solidFill>
                  <a:srgbClr val="1E242B"/>
                </a:solidFill>
                <a:latin typeface="Segoe UI"/>
              </a:rPr>
              <a:t>Captured the CUDA graph for the live batch and replayed it, instead of re-submitting the same work every call</a:t>
            </a:r>
          </a:p>
          <a:p>
            <a:pPr>
              <a:spcAft>
                <a:spcPts val="1300"/>
              </a:spcAft>
            </a:pPr>
            <a:r>
              <a:rPr sz="1500" b="0" i="0">
                <a:solidFill>
                  <a:srgbClr val="1E242B"/>
                </a:solidFill>
                <a:latin typeface="Segoe UI"/>
              </a:rPr>
              <a:t>Made the pose stage unable to hurt acquisition: it takes frames on a separate non-blocking queue, always takes the newest and drops stale ones, so latency never grows into a backlog</a:t>
            </a:r>
          </a:p>
          <a:p>
            <a:pPr>
              <a:spcAft>
                <a:spcPts val="1300"/>
              </a:spcAft>
            </a:pPr>
            <a:r>
              <a:rPr sz="1500" b="0" i="0">
                <a:solidFill>
                  <a:srgbClr val="1E242B"/>
                </a:solidFill>
                <a:latin typeface="Segoe UI"/>
              </a:rPr>
              <a:t>Tried the usual accelerators and kept none of them — fp16, torch.compile and ONNX Runtime all measured at or below parity on this card, and TensorRT's real 1.3x was not worth a second inference path</a:t>
            </a: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The wins came from removing our own overhead and letting each tier meet its own deadline — not from a faster runtime.</a:t>
            </a: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it measured</a:t>
            </a:r>
          </a:p>
        </p:txBody>
      </p:sp>
      <p:sp>
        <p:nvSpPr>
          <p:cNvPr id="3" name="Rectangle 2"/>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Same rig, same load, before and after each change.</a:t>
            </a:r>
          </a:p>
        </p:txBody>
      </p:sp>
      <p:pic>
        <p:nvPicPr>
          <p:cNvPr id="5" name="Picture 4" descr="measurements.png"/>
          <p:cNvPicPr>
            <a:picLocks noChangeAspect="1"/>
          </p:cNvPicPr>
          <p:nvPr/>
        </p:nvPicPr>
        <p:blipFill>
          <a:blip r:embed="rId2"/>
          <a:stretch>
            <a:fillRect/>
          </a:stretch>
        </p:blipFill>
        <p:spPr>
          <a:xfrm>
            <a:off x="975777" y="1847088"/>
            <a:ext cx="10240140" cy="3822192"/>
          </a:xfrm>
          <a:prstGeom prst="rect">
            <a:avLst/>
          </a:prstGeom>
        </p:spPr>
      </p:pic>
      <p:sp>
        <p:nvSpPr>
          <p:cNvPr id="6" name="TextBox 5"/>
          <p:cNvSpPr txBox="1"/>
          <p:nvPr/>
        </p:nvSpPr>
        <p:spPr>
          <a:xfrm>
            <a:off x="658368" y="5797296"/>
            <a:ext cx="10874959" cy="502920"/>
          </a:xfrm>
          <a:prstGeom prst="rect">
            <a:avLst/>
          </a:prstGeom>
          <a:noFill/>
        </p:spPr>
        <p:txBody>
          <a:bodyPr wrap="square">
            <a:spAutoFit/>
          </a:bodyPr>
          <a:lstStyle/>
          <a:p>
            <a:pPr algn="ctr"/>
            <a:r>
              <a:rPr sz="1150" b="0" i="1">
                <a:solidFill>
                  <a:srgbClr val="6B727B"/>
                </a:solidFill>
                <a:latin typeface="Segoe UI"/>
              </a:rPr>
              <a:t>Measured on an NVIDIA T1000 — a low-end Turing card with no tensor cores, which is why fp16 lost here and why a tensor-core GPU would shift several of these numbers.</a:t>
            </a:r>
          </a:p>
        </p:txBody>
      </p:sp>
      <p:sp>
        <p:nvSpPr>
          <p:cNvPr id="7" name="TextBox 6"/>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8" name="TextBox 7"/>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Pick the model that fits the experiment</a:t>
            </a:r>
          </a:p>
        </p:txBody>
      </p:sp>
      <p:sp>
        <p:nvSpPr>
          <p:cNvPr id="3" name="Content Placeholder 2"/>
          <p:cNvSpPr>
            <a:spLocks noGrp="1"/>
          </p:cNvSpPr>
          <p:nvPr>
            <p:ph idx="1" sz="half"/>
          </p:nvPr>
        </p:nvSpPr>
        <p:spPr>
          <a:xfrm>
            <a:off x="658368" y="2487168"/>
            <a:ext cx="5186019" cy="3593592"/>
          </a:xfrm>
        </p:spPr>
        <p:txBody>
          <a:bodyPr wrap="square"/>
          <a:lstStyle/>
          <a:p>
            <a:pPr>
              <a:spcAft>
                <a:spcPts val="1100"/>
              </a:spcAft>
            </a:pPr>
            <a:r>
              <a:rPr sz="1350" b="0" i="0">
                <a:solidFill>
                  <a:srgbClr val="1E242B"/>
                </a:solidFill>
                <a:latin typeface="Segoe UI"/>
              </a:rPr>
              <a:t>YOLO — the current default, and the one the CUDA-graph path accelerates</a:t>
            </a:r>
          </a:p>
          <a:p>
            <a:pPr>
              <a:spcAft>
                <a:spcPts val="1100"/>
              </a:spcAft>
            </a:pPr>
            <a:r>
              <a:rPr sz="1350" b="0" i="0">
                <a:solidFill>
                  <a:srgbClr val="1E242B"/>
                </a:solidFill>
                <a:latin typeface="Segoe UI"/>
              </a:rPr>
              <a:t>cspnext and rtmpose — top-down pose families with measured confidence thresholds per backbone</a:t>
            </a:r>
          </a:p>
          <a:p>
            <a:pPr>
              <a:spcAft>
                <a:spcPts val="1100"/>
              </a:spcAft>
            </a:pPr>
            <a:r>
              <a:rPr sz="1350" b="0" i="0">
                <a:solidFill>
                  <a:srgbClr val="1E242B"/>
                </a:solidFill>
                <a:latin typeface="Segoe UI"/>
              </a:rPr>
              <a:t>DeepLabCut ResNet-50 — the accuracy reference, and where this started</a:t>
            </a:r>
          </a:p>
        </p:txBody>
      </p:sp>
      <p:sp>
        <p:nvSpPr>
          <p:cNvPr id="4" name="Content Placeholder 3"/>
          <p:cNvSpPr>
            <a:spLocks noGrp="1"/>
          </p:cNvSpPr>
          <p:nvPr>
            <p:ph idx="2" sz="half"/>
          </p:nvPr>
        </p:nvSpPr>
        <p:spPr>
          <a:xfrm>
            <a:off x="6347307" y="2487168"/>
            <a:ext cx="5186019" cy="3593592"/>
          </a:xfrm>
        </p:spPr>
        <p:txBody>
          <a:bodyPr wrap="square"/>
          <a:lstStyle/>
          <a:p>
            <a:pPr>
              <a:spcAft>
                <a:spcPts val="1100"/>
              </a:spcAft>
            </a:pPr>
            <a:r>
              <a:rPr sz="1350" b="0" i="0">
                <a:solidFill>
                  <a:srgbClr val="1E242B"/>
                </a:solidFill>
                <a:latin typeface="Segoe UI"/>
              </a:rPr>
              <a:t>Faster backbones hold camera rate: cspnext_s sustains 150 fps at 7.66 ms sensor-to-pose; cspnext_m runs near 103 fps</a:t>
            </a:r>
          </a:p>
          <a:p>
            <a:pPr>
              <a:spcAft>
                <a:spcPts val="1100"/>
              </a:spcAft>
            </a:pPr>
            <a:r>
              <a:rPr sz="1350" b="0" i="0">
                <a:solidFill>
                  <a:srgbClr val="1E242B"/>
                </a:solidFill>
                <a:latin typeface="Segoe UI"/>
              </a:rPr>
              <a:t>ResNet-50 runs below camera rate on this GPU — fine for a behaviour stream, not for closing a loop</a:t>
            </a:r>
          </a:p>
          <a:p>
            <a:pPr>
              <a:spcAft>
                <a:spcPts val="1100"/>
              </a:spcAft>
            </a:pPr>
            <a:r>
              <a:rPr sz="1350" b="0" i="0">
                <a:solidFill>
                  <a:srgbClr val="1E242B"/>
                </a:solidFill>
                <a:latin typeface="Segoe UI"/>
              </a:rPr>
              <a:t>Confidence does not mean the same thing across families, so the gate threshold is measured per backbone rather than set globally</a:t>
            </a: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The backend takes several model families. Speed and accuracy trade against each other, and the choice is yours per use case.</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What you get to choose</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What the choice costs</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this buys, and what it costs</a:t>
            </a:r>
          </a:p>
        </p:txBody>
      </p:sp>
      <p:sp>
        <p:nvSpPr>
          <p:cNvPr id="3" name="Content Placeholder 2"/>
          <p:cNvSpPr>
            <a:spLocks noGrp="1"/>
          </p:cNvSpPr>
          <p:nvPr>
            <p:ph idx="1" sz="half"/>
          </p:nvPr>
        </p:nvSpPr>
        <p:spPr>
          <a:xfrm>
            <a:off x="658368" y="2487168"/>
            <a:ext cx="5186019" cy="3593592"/>
          </a:xfrm>
        </p:spPr>
        <p:txBody>
          <a:bodyPr wrap="square"/>
          <a:lstStyle/>
          <a:p>
            <a:pPr>
              <a:spcAft>
                <a:spcPts val="1100"/>
              </a:spcAft>
            </a:pPr>
            <a:r>
              <a:rPr sz="1350" b="0" i="0">
                <a:solidFill>
                  <a:srgbClr val="1E242B"/>
                </a:solidFill>
                <a:latin typeface="Segoe UI"/>
              </a:rPr>
              <a:t>A second closed loop driven by machine vision, alongside the fast ROI reflex — decisions can now depend on where the paw actually is</a:t>
            </a:r>
          </a:p>
          <a:p>
            <a:pPr>
              <a:spcAft>
                <a:spcPts val="1100"/>
              </a:spcAft>
            </a:pPr>
            <a:r>
              <a:rPr sz="1350" b="0" i="0">
                <a:solidFill>
                  <a:srgbClr val="1E242B"/>
                </a:solidFill>
                <a:latin typeface="Segoe UI"/>
              </a:rPr>
              <a:t>A live 2D pose overlay per camera view while the session runs</a:t>
            </a:r>
          </a:p>
          <a:p>
            <a:pPr>
              <a:spcAft>
                <a:spcPts val="1100"/>
              </a:spcAft>
            </a:pPr>
            <a:r>
              <a:rPr sz="1350" b="0" i="0">
                <a:solidFill>
                  <a:srgbClr val="1E242B"/>
                </a:solidFill>
                <a:latin typeface="Segoe UI"/>
              </a:rPr>
              <a:t>Signals visualised during acquisition instead of plotted afterwards</a:t>
            </a:r>
          </a:p>
          <a:p>
            <a:pPr>
              <a:spcAft>
                <a:spcPts val="1100"/>
              </a:spcAft>
            </a:pPr>
            <a:r>
              <a:rPr sz="1350" b="0" i="0">
                <a:solidFill>
                  <a:srgbClr val="1E242B"/>
                </a:solidFill>
                <a:latin typeface="Segoe UI"/>
              </a:rPr>
              <a:t>Experiments composed from reusable trial sets, with reproducible draws</a:t>
            </a:r>
          </a:p>
        </p:txBody>
      </p:sp>
      <p:sp>
        <p:nvSpPr>
          <p:cNvPr id="4" name="Content Placeholder 3"/>
          <p:cNvSpPr>
            <a:spLocks noGrp="1"/>
          </p:cNvSpPr>
          <p:nvPr>
            <p:ph idx="2" sz="half"/>
          </p:nvPr>
        </p:nvSpPr>
        <p:spPr>
          <a:xfrm>
            <a:off x="6347307" y="2487168"/>
            <a:ext cx="5186019" cy="3593592"/>
          </a:xfrm>
        </p:spPr>
        <p:txBody>
          <a:bodyPr wrap="square"/>
          <a:lstStyle/>
          <a:p>
            <a:pPr>
              <a:spcAft>
                <a:spcPts val="1100"/>
              </a:spcAft>
            </a:pPr>
            <a:r>
              <a:rPr sz="1350" b="0" i="0">
                <a:solidFill>
                  <a:srgbClr val="1E242B"/>
                </a:solidFill>
                <a:latin typeface="Segoe UI"/>
              </a:rPr>
              <a:t>A working CUDA GPU. Live inference refuses to start without one, by design, rather than silently running slow</a:t>
            </a:r>
          </a:p>
          <a:p>
            <a:pPr>
              <a:spcAft>
                <a:spcPts val="1100"/>
              </a:spcAft>
            </a:pPr>
            <a:r>
              <a:rPr sz="1350" b="0" i="0">
                <a:solidFill>
                  <a:srgbClr val="1E242B"/>
                </a:solidFill>
                <a:latin typeface="Segoe UI"/>
              </a:rPr>
              <a:t>Two settings the installer applies: real-time scheduling for the reflex loop and the performance CPU governor</a:t>
            </a:r>
          </a:p>
          <a:p>
            <a:pPr>
              <a:spcAft>
                <a:spcPts val="1100"/>
              </a:spcAft>
            </a:pPr>
            <a:r>
              <a:rPr sz="1350" b="0" i="0">
                <a:solidFill>
                  <a:srgbClr val="1E242B"/>
                </a:solidFill>
                <a:latin typeface="Segoe UI"/>
              </a:rPr>
              <a:t>Calibration that matches the geometry the cameras actually record, or 3D is wrong beneath a correct-looking 2D overlay</a:t>
            </a:r>
          </a:p>
          <a:p>
            <a:pPr>
              <a:spcAft>
                <a:spcPts val="1100"/>
              </a:spcAft>
            </a:pPr>
            <a:r>
              <a:rPr sz="1350" b="0" i="0">
                <a:solidFill>
                  <a:srgbClr val="1E242B"/>
                </a:solidFill>
                <a:latin typeface="Segoe UI"/>
              </a:rPr>
              <a:t>Unfiltered signal recording costs disk — the FSR stream alone adds roughly 166 rows a second</a:t>
            </a: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The speed work was not the point. This is what it enabled.</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New abilities</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What it asks of you</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Everything lands on one timebase</a:t>
            </a:r>
          </a:p>
        </p:txBody>
      </p:sp>
      <p:sp>
        <p:nvSpPr>
          <p:cNvPr id="3" name="Rectangle 2"/>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Cameras, tones, pellet events and laser output are not separately timestamped and hoped to agree.</a:t>
            </a:r>
          </a:p>
        </p:txBody>
      </p:sp>
      <p:pic>
        <p:nvPicPr>
          <p:cNvPr id="5" name="Picture 4" descr="synchronization.png"/>
          <p:cNvPicPr>
            <a:picLocks noChangeAspect="1"/>
          </p:cNvPicPr>
          <p:nvPr/>
        </p:nvPicPr>
        <p:blipFill>
          <a:blip r:embed="rId2"/>
          <a:stretch>
            <a:fillRect/>
          </a:stretch>
        </p:blipFill>
        <p:spPr>
          <a:xfrm>
            <a:off x="658368" y="1847088"/>
            <a:ext cx="10874959" cy="3663144"/>
          </a:xfrm>
          <a:prstGeom prst="rect">
            <a:avLst/>
          </a:prstGeom>
        </p:spPr>
      </p:pic>
      <p:sp>
        <p:nvSpPr>
          <p:cNvPr id="6" name="TextBox 5"/>
          <p:cNvSpPr txBox="1"/>
          <p:nvPr/>
        </p:nvSpPr>
        <p:spPr>
          <a:xfrm>
            <a:off x="658368" y="5638248"/>
            <a:ext cx="10874959" cy="502920"/>
          </a:xfrm>
          <a:prstGeom prst="rect">
            <a:avLst/>
          </a:prstGeom>
          <a:noFill/>
        </p:spPr>
        <p:txBody>
          <a:bodyPr wrap="square">
            <a:spAutoFit/>
          </a:bodyPr>
          <a:lstStyle/>
          <a:p>
            <a:pPr algn="ctr"/>
            <a:r>
              <a:rPr sz="1150" b="0" i="1">
                <a:solidFill>
                  <a:srgbClr val="6B727B"/>
                </a:solidFill>
                <a:latin typeface="Segoe UI"/>
              </a:rPr>
              <a:t>Camera frame edges are matched to NI-DAQ samples with a signed offset, a resolution, and a confidence — all written into alignment.json.</a:t>
            </a:r>
          </a:p>
        </p:txBody>
      </p:sp>
      <p:sp>
        <p:nvSpPr>
          <p:cNvPr id="7" name="TextBox 6"/>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8" name="TextBox 7"/>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Signals you can watch while the session runs</a:t>
            </a:r>
          </a:p>
        </p:txBody>
      </p:sp>
      <p:sp>
        <p:nvSpPr>
          <p:cNvPr id="3" name="Content Placeholder 2"/>
          <p:cNvSpPr>
            <a:spLocks noGrp="1"/>
          </p:cNvSpPr>
          <p:nvPr>
            <p:ph idx="1"/>
          </p:nvPr>
        </p:nvSpPr>
        <p:spPr>
          <a:xfrm>
            <a:off x="658368" y="2057400"/>
            <a:ext cx="10874959" cy="4023360"/>
          </a:xfrm>
        </p:spPr>
        <p:txBody>
          <a:bodyPr wrap="square"/>
          <a:lstStyle/>
          <a:p>
            <a:pPr>
              <a:spcAft>
                <a:spcPts val="1300"/>
              </a:spcAft>
            </a:pPr>
            <a:r>
              <a:rPr sz="1500" b="0" i="0">
                <a:solidFill>
                  <a:srgbClr val="1E242B"/>
                </a:solidFill>
                <a:latin typeface="Segoe UI"/>
              </a:rPr>
              <a:t>Tones 1, 2 and 3 as logic traces, with the commanded onset checked against the pulse the DAQ actually saw</a:t>
            </a:r>
          </a:p>
          <a:p>
            <a:pPr>
              <a:spcAft>
                <a:spcPts val="1300"/>
              </a:spcAft>
            </a:pPr>
            <a:r>
              <a:rPr sz="1500" b="0" i="0">
                <a:solidFill>
                  <a:srgbClr val="1E242B"/>
                </a:solidFill>
                <a:latin typeface="Segoe UI"/>
              </a:rPr>
              <a:t>Pellet FSR pressure — two sensors at about 83 Hz each, from firmware 2.1.0, on their own stream rather than mixed into the device log</a:t>
            </a:r>
          </a:p>
          <a:p>
            <a:pPr>
              <a:spcAft>
                <a:spcPts val="1300"/>
              </a:spcAft>
            </a:pPr>
            <a:r>
              <a:rPr sz="1500" b="0" i="0">
                <a:solidFill>
                  <a:srgbClr val="1E242B"/>
                </a:solidFill>
                <a:latin typeface="Segoe UI"/>
              </a:rPr>
              <a:t>Laser analog command alongside the diode readback, so what was asked for and what came out are on the same axis</a:t>
            </a:r>
          </a:p>
          <a:p>
            <a:pPr>
              <a:spcAft>
                <a:spcPts val="1300"/>
              </a:spcAft>
            </a:pPr>
            <a:r>
              <a:rPr sz="1500" b="0" i="0">
                <a:solidFill>
                  <a:srgbClr val="1E242B"/>
                </a:solidFill>
                <a:latin typeface="Segoe UI"/>
              </a:rPr>
              <a:t>Camera frame pulses and the barcode line, which are what tie video to samples</a:t>
            </a:r>
          </a:p>
          <a:p>
            <a:pPr>
              <a:spcAft>
                <a:spcPts val="1300"/>
              </a:spcAft>
            </a:pPr>
            <a:r>
              <a:rPr sz="1500" b="0" i="0">
                <a:solidFill>
                  <a:srgbClr val="1E242B"/>
                </a:solidFill>
                <a:latin typeface="Segoe UI"/>
              </a:rPr>
              <a:t>Closed-loop state: what the pose gate answered, when the cue fired, and whether the trial was cancelled</a:t>
            </a: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Everything is acquired continuously at 10 kHz and recorded unfiltered. The plot selection only changes what is drawn.</a:t>
            </a: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Experiments are composed, not copied</a:t>
            </a:r>
          </a:p>
        </p:txBody>
      </p:sp>
      <p:sp>
        <p:nvSpPr>
          <p:cNvPr id="3" name="Content Placeholder 2"/>
          <p:cNvSpPr>
            <a:spLocks noGrp="1"/>
          </p:cNvSpPr>
          <p:nvPr>
            <p:ph idx="1"/>
          </p:nvPr>
        </p:nvSpPr>
        <p:spPr>
          <a:xfrm>
            <a:off x="658368" y="2057400"/>
            <a:ext cx="10874959" cy="4023360"/>
          </a:xfrm>
        </p:spPr>
        <p:txBody>
          <a:bodyPr wrap="square"/>
          <a:lstStyle/>
          <a:p>
            <a:pPr>
              <a:spcAft>
                <a:spcPts val="1300"/>
              </a:spcAft>
            </a:pPr>
            <a:r>
              <a:rPr sz="1500" b="0" i="0">
                <a:solidFill>
                  <a:srgbClr val="1E242B"/>
                </a:solidFill>
                <a:latin typeface="Segoe UI"/>
              </a:rPr>
              <a:t>A trial set is a reusable group of trials, saved on its own — trial content only, no epochs or blocks</a:t>
            </a:r>
          </a:p>
          <a:p>
            <a:pPr>
              <a:spcAft>
                <a:spcPts val="1300"/>
              </a:spcAft>
            </a:pPr>
            <a:r>
              <a:rPr sz="1500" b="0" i="0">
                <a:solidFill>
                  <a:srgbClr val="1E242B"/>
                </a:solidFill>
                <a:latin typeface="Segoe UI"/>
              </a:rPr>
              <a:t>An experiment is an ordered list of set appearances; each entry pins the set revision it was built against, can repeat, and can shuffle trial order within an appearance</a:t>
            </a:r>
          </a:p>
          <a:p>
            <a:pPr>
              <a:spcAft>
                <a:spcPts val="1300"/>
              </a:spcAft>
            </a:pPr>
            <a:r>
              <a:rPr sz="1500" b="0" i="0">
                <a:solidFill>
                  <a:srgbClr val="1E242B"/>
                </a:solidFill>
                <a:latin typeface="Segoe UI"/>
              </a:rPr>
              <a:t>Compiling flattens it into an ordinary protocol document, so the runner, the schedule and session evidence see nothing new</a:t>
            </a:r>
          </a:p>
          <a:p>
            <a:pPr>
              <a:spcAft>
                <a:spcPts val="1300"/>
              </a:spcAft>
            </a:pPr>
            <a:r>
              <a:rPr sz="1500" b="0" i="0">
                <a:solidFill>
                  <a:srgbClr val="1E242B"/>
                </a:solidFill>
                <a:latin typeface="Segoe UI"/>
              </a:rPr>
              <a:t>Each appearance becomes a named epoch, and the Sources column names the set every value came from</a:t>
            </a:r>
          </a:p>
          <a:p>
            <a:pPr>
              <a:spcAft>
                <a:spcPts val="1300"/>
              </a:spcAft>
            </a:pPr>
            <a:r>
              <a:rPr sz="1500" b="0" i="0">
                <a:solidFill>
                  <a:srgbClr val="1E242B"/>
                </a:solidFill>
                <a:latin typeface="Segoe UI"/>
              </a:rPr>
              <a:t>Shuffle seeds are stored on the entry, so a compile can always be repeated exactly</a:t>
            </a:r>
          </a:p>
          <a:p>
            <a:pPr>
              <a:spcAft>
                <a:spcPts val="1300"/>
              </a:spcAft>
            </a:pPr>
            <a:r>
              <a:rPr sz="1500" b="0" i="0">
                <a:solidFill>
                  <a:srgbClr val="1E242B"/>
                </a:solidFill>
                <a:latin typeface="Segoe UI"/>
              </a:rPr>
              <a:t>Editing a set never repins an existing row; a stale pin is visible, and a compile against a changed set is refused rather than silently different</a:t>
            </a: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A phase shared by several experiments is written once.</a:t>
            </a: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Demo — recorded video, everything else live</a:t>
            </a:r>
          </a:p>
        </p:txBody>
      </p:sp>
      <p:sp>
        <p:nvSpPr>
          <p:cNvPr id="3" name="Rectangle 2"/>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No animal today, so the camera frames are played from a recorded session. Exactly one stage is substituted.</a:t>
            </a:r>
          </a:p>
        </p:txBody>
      </p:sp>
      <p:pic>
        <p:nvPicPr>
          <p:cNvPr id="5" name="Picture 4" descr="live_overlay.png"/>
          <p:cNvPicPr>
            <a:picLocks noChangeAspect="1"/>
          </p:cNvPicPr>
          <p:nvPr/>
        </p:nvPicPr>
        <p:blipFill>
          <a:blip r:embed="rId2"/>
          <a:stretch>
            <a:fillRect/>
          </a:stretch>
        </p:blipFill>
        <p:spPr>
          <a:xfrm>
            <a:off x="1202283" y="1847088"/>
            <a:ext cx="9787128" cy="3822192"/>
          </a:xfrm>
          <a:prstGeom prst="rect">
            <a:avLst/>
          </a:prstGeom>
        </p:spPr>
      </p:pic>
      <p:sp>
        <p:nvSpPr>
          <p:cNvPr id="6" name="TextBox 5"/>
          <p:cNvSpPr txBox="1"/>
          <p:nvPr/>
        </p:nvSpPr>
        <p:spPr>
          <a:xfrm>
            <a:off x="658368" y="5797296"/>
            <a:ext cx="10874959" cy="502920"/>
          </a:xfrm>
          <a:prstGeom prst="rect">
            <a:avLst/>
          </a:prstGeom>
          <a:noFill/>
        </p:spPr>
        <p:txBody>
          <a:bodyPr wrap="square">
            <a:spAutoFit/>
          </a:bodyPr>
          <a:lstStyle/>
          <a:p>
            <a:pPr algn="ctr"/>
            <a:r>
              <a:rPr sz="1150" b="0" i="1">
                <a:solidFill>
                  <a:srgbClr val="6B727B"/>
                </a:solidFill>
                <a:latin typeface="Segoe UI"/>
              </a:rPr>
              <a:t>Live 2D pose, per view, computed on the GPU from the played frames. Captured from the running application on the rig.</a:t>
            </a:r>
          </a:p>
        </p:txBody>
      </p:sp>
      <p:sp>
        <p:nvSpPr>
          <p:cNvPr id="7" name="TextBox 6"/>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8" name="TextBox 7"/>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