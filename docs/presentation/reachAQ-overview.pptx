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sentence of welcome. Say that the last slide before backup is a live demo, and that everything in it is real except the video.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architecture yet. The point is the closed loop: the system is a participant in the experiment, not a recorder of it. Everything after this slide is how that is achieved.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reach-training was the original working rig: Python 3.8, PySpin cameras, an Arduino for the pellet, reach detection by camera ROI threshold, DeepLabCut offline afterwards, then manual curation.</a:t>
            </a:r>
          </a:p>
          <a:p/>
          <a:p>
            <a:r>
              <a:t>auto-trainer is the modular platform reachAQ is built from: core, video, device, inference, behavior, model and pyside packages, synchronized multi-process capture, integrated pose inference, stereo calibration, a CAN pellet device, and the session and metadata structure.</a:t>
            </a:r>
          </a:p>
          <a:p/>
          <a:p>
            <a:r>
              <a:t>reachAQ is this system: new hardware target, new stimulation subsystem, live 3D pose in the control loop, and a protocol engine.</a:t>
            </a:r>
          </a:p>
          <a:p/>
          <a:p>
            <a:r>
              <a:t>Say plainly: we did not start over, and we did not just rename someone else's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shared frame index is what makes 3D possible at all. Frame N on left must be the same instant as frame N on right.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firmware capability check matters because a protocol feature that needs a newer board must refuse rather than silently misbehave.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image shows four candidate backbones on one frame with how many keypoints each put above threshold. That spread is exactly why the confidence gate is calibrated per model: a cspnext_s never scores above 0.33, so a single global threshold would hold the reach flag permanently false.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central claim of the whole system. Everything on the previous slides exists to make this slide possible. Be clear that reachAQ replaced an ROI brightness test with a tracked 3D coordinate.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plainly that this is new and has no ancestor in either repository. The LabVIEW system was used as a requirements inventory, not as a source of logic — it is known to contain bugs.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reproducibility point is worth dwelling on: reach-training drew at runtime, so a session could not be replayed. reachAQ derives every draw from the trial identity.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5 MS FIGURE IS A DESIGN TARGET AND A TAIL FIGURE, NOT A MEASURED RESULT. It needs thread pinning, realtime scheduling, and no allocation or logging on the trigger branch, and it is pending rig validation. Do not present it as achieved.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embedded configuration means a session can be interpreted years later without the rig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order:</a:t>
            </a:r>
          </a:p>
          <a:p>
            <a:r>
              <a:t>1. Launch with --demo, or toggle Tools &gt; Demo Mode while idle, to show both routes.</a:t>
            </a:r>
          </a:p>
          <a:p>
            <a:r>
              <a:t>2. Show the live camera panels. Each view carries its own 2D pose overlay, computed on the GPU from the played frames. This is real inference running now, not a replayed result.</a:t>
            </a:r>
          </a:p>
          <a:p>
            <a:r>
              <a:t>3. Show the NI-DAQ live signal stream. Genuinely live.</a:t>
            </a:r>
          </a:p>
          <a:p>
            <a:r>
              <a:t>4. Drive the pellet device manually. Genuinely live.</a:t>
            </a:r>
          </a:p>
          <a:p>
            <a:r>
              <a:t>5. Open the protocol table; show cue timing and trigger profiles. Genuinely live.</a:t>
            </a:r>
          </a:p>
          <a:p>
            <a:r>
              <a:t>6. Start a recording session, let trials run, show trial records accumulating.</a:t>
            </a:r>
          </a:p>
          <a:p>
            <a:r>
              <a:t>7. Stop, and show the written session directory including its DEMO marker file.</a:t>
            </a:r>
          </a:p>
          <a:p>
            <a:r>
              <a:t>8. State explicitly which single element was pre-recorded, and why.</a:t>
            </a:r>
          </a:p>
          <a:p/>
          <a:p>
            <a:r>
              <a:t>Point at the red banner in the status bar. It is there so nobody mistakes a demo session for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honest here. This audience will run experiments on this system, and a surprise later costs far more than a caveat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Leave this up while taking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2860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 i="0">
                <a:solidFill>
                  <a:srgbClr val="26282B"/>
                </a:solidFill>
              </a:rPr>
              <a:t>reachAQ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2918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26282B"/>
                </a:solidFill>
              </a:rPr>
              <a:t>Automated mouse reach acquisition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9319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7A7F87"/>
                </a:solidFill>
              </a:rPr>
              <a:t>Cerebellum Lab  ·  Dell/Ubuntu rig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6282B"/>
                </a:solidFill>
              </a:rPr>
              <a:t>What this system does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011680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26282B"/>
                </a:solidFill>
              </a:rPr>
              <a:t>•  A head-fixed mouse reaches for a pellet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670048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26282B"/>
                </a:solidFill>
              </a:rPr>
              <a:t>•  Several cameras watch at 150 frames per second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328416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26282B"/>
                </a:solidFill>
              </a:rPr>
              <a:t>•  The system finds the paw in 3D while the reach is still happening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986784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26282B"/>
                </a:solidFill>
              </a:rPr>
              <a:t>•  It decides, and acts, inside the same reach: cue, pellet, laser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645152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26282B"/>
                </a:solidFill>
              </a:rPr>
              <a:t>•  Every trial is recorded, timestamped, and reproducible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6282B"/>
                </a:solidFill>
              </a:rPr>
              <a:t>Where it came from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515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7A7F87"/>
                </a:solidFill>
              </a:rPr>
              <a:t>The only slide organised by repository — everything after this is by feature</a:t>
            </a:r>
          </a:p>
        </p:txBody>
      </p:sp>
      <p:pic>
        <p:nvPicPr>
          <p:cNvPr id="4" name="Picture 3" descr="line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10650"/>
            <a:ext cx="11064240" cy="47168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6282B"/>
                </a:solidFill>
              </a:rPr>
              <a:t>Camera acquisition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6282B"/>
                </a:solidFill>
              </a:rPr>
              <a:t>•  2 to 6 cameras, configurable, hardware-synchronized at 150 FPS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6282B"/>
                </a:solidFill>
              </a:rPr>
              <a:t>•  Each camera runs in its own process, so one slow camera cannot stall the others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6282B"/>
                </a:solidFill>
              </a:rPr>
              <a:t>•  A shared frame index keeps every camera on the same frame number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6282B"/>
                </a:solidFill>
              </a:rPr>
              <a:t>•  A separate faster stim camera runs its own small-ROI detector</a:t>
            </a:r>
          </a:p>
        </p:txBody>
      </p:sp>
      <p:pic>
        <p:nvPicPr>
          <p:cNvPr id="7" name="Picture 6" descr="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47576" y="3017520"/>
            <a:ext cx="4266368" cy="1645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4764024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7A7F87"/>
                </a:solidFill>
              </a:rPr>
              <a:t>Where it came from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074920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B7F9E"/>
                </a:solidFill>
              </a:rPr>
              <a:t>reach-training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367528"/>
            <a:ext cx="3429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6282B"/>
                </a:solidFill>
              </a:rPr>
              <a:t>PySpin capture, cameras configured in systemdata.yaml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5074920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A8C7A"/>
                </a:solidFill>
              </a:rPr>
              <a:t>auto-trainer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400" y="5367528"/>
            <a:ext cx="3429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6282B"/>
                </a:solidFill>
              </a:rPr>
              <a:t>Per-process VideoCapture, shared synchronized frame index, Spinnaker camera-clock mapping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5074920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B3593F"/>
                </a:solidFill>
              </a:rPr>
              <a:t>reachAQ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5367528"/>
            <a:ext cx="3429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6282B"/>
                </a:solidFill>
              </a:rPr>
              <a:t>2–6 cameras rather than a fixed pair, configurable frame rate, stim camera at a multiple of the reach rate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6282B"/>
                </a:solidFill>
              </a:rPr>
              <a:t>Pellet delivery and device control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6282B"/>
                </a:solidFill>
              </a:rPr>
              <a:t>•  The pellet arm is a motorized device on a CAN bus, not a serial gadget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3774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6282B"/>
                </a:solidFill>
              </a:rPr>
              <a:t>•  The application checks the board's firmware capabilities before using a feature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9260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6282B"/>
                </a:solidFill>
              </a:rPr>
              <a:t>•  Presence evidence: the system knows whether a pellet is actually there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474719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6282B"/>
                </a:solidFill>
              </a:rPr>
              <a:t>•  Manual controls stay available at all times: home, load, present, release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489704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7A7F87"/>
                </a:solidFill>
              </a:rPr>
              <a:t>Where it came from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800600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B7F9E"/>
                </a:solidFill>
              </a:rPr>
              <a:t>reach-training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093208"/>
            <a:ext cx="3429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6282B"/>
                </a:solidFill>
              </a:rPr>
              <a:t>Arduino over USB serial, text commands, hotkeys H / P / M / 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4800600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A8C7A"/>
                </a:solidFill>
              </a:rPr>
              <a:t>auto-trainer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5093208"/>
            <a:ext cx="3429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6282B"/>
                </a:solidFill>
              </a:rPr>
              <a:t>A CAN device abstraction behind a hardware interface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4800600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B3593F"/>
                </a:solidFill>
              </a:rPr>
              <a:t>reachAQ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5093208"/>
            <a:ext cx="3429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6282B"/>
                </a:solidFill>
              </a:rPr>
              <a:t>SocketCAN/PCAN on Ubuntu x86_64 instead of the Jetson 40-pin adapter, plus firmware compatibility checking and typed failure causes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6282B"/>
                </a:solidFill>
              </a:rPr>
              <a:t>Pose inference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17320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6282B"/>
                </a:solidFill>
              </a:rPr>
              <a:t>•  A pose model finds keypoints on the paw and snout in every frame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46504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6282B"/>
                </a:solidFill>
              </a:rPr>
              <a:t>•  Two camera views are triangulated into a 3D 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75688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6282B"/>
                </a:solidFill>
              </a:rPr>
              <a:t>•  This runs live, during the session, not afterwards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404872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6282B"/>
                </a:solidFill>
              </a:rPr>
              <a:t>•  Confidence thresholds are measured per model, not guessed</a:t>
            </a:r>
          </a:p>
        </p:txBody>
      </p:sp>
      <p:pic>
        <p:nvPicPr>
          <p:cNvPr id="7" name="Picture 6" descr="pose_backbo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2806" y="2788920"/>
            <a:ext cx="3835908" cy="19202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4764024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7A7F87"/>
                </a:solidFill>
              </a:rPr>
              <a:t>Where it came from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074920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B7F9E"/>
                </a:solidFill>
              </a:rPr>
              <a:t>reach-training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367528"/>
            <a:ext cx="3429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6282B"/>
                </a:solidFill>
              </a:rPr>
              <a:t>DeepLabCut run offline after the session, then curated by hand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5074920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A8C7A"/>
                </a:solidFill>
              </a:rPr>
              <a:t>auto-trainer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400" y="5367528"/>
            <a:ext cx="3429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6282B"/>
                </a:solidFill>
              </a:rPr>
              <a:t>Pose inference and FLIR stereo calibration integrated into the application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5074920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B3593F"/>
                </a:solidFill>
              </a:rPr>
              <a:t>reachAQ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5367528"/>
            <a:ext cx="3429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6282B"/>
                </a:solidFill>
              </a:rPr>
              <a:t>Live 3D computed in NumPy on the PyTorch backend, per-backbone confidence calibration, top-down model support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6282B"/>
                </a:solidFill>
              </a:rPr>
              <a:t>Closed-loop reach detection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515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7A7F87"/>
                </a:solidFill>
              </a:rPr>
              <a:t>The central capability — and the one that did not exist before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6282B"/>
                </a:solidFill>
              </a:rPr>
              <a:t>•  The cue gate asks a live question: has the paw crossed into the reach volume?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468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6282B"/>
                </a:solidFill>
              </a:rPr>
              <a:t>•  The answer comes from the live 3D pose, on the current frame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0175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6282B"/>
                </a:solidFill>
              </a:rPr>
              <a:t>•  If the answer is no at the deadline, the trial resets rather than firing 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566159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6282B"/>
                </a:solidFill>
              </a:rPr>
              <a:t>•  The reach-state source is selectable, so the gate can be driven different ways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489704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7A7F87"/>
                </a:solidFill>
              </a:rPr>
              <a:t>Where it came from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800600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B7F9E"/>
                </a:solidFill>
              </a:rPr>
              <a:t>reach-training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093208"/>
            <a:ext cx="3429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6282B"/>
                </a:solidFill>
              </a:rPr>
              <a:t>A brightness threshold inside a drawn ROI, checked against an Arduino serial handshake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4800600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A8C7A"/>
                </a:solidFill>
              </a:rPr>
              <a:t>auto-trainer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400" y="5093208"/>
            <a:ext cx="3429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6282B"/>
                </a:solidFill>
              </a:rPr>
              <a:t>Pose-derived behavioural state feeding a state machine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4800600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B3593F"/>
                </a:solidFill>
              </a:rPr>
              <a:t>reachAQ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5093208"/>
            <a:ext cx="3429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6282B"/>
                </a:solidFill>
              </a:rPr>
              <a:t>Live 3D pose answers the cue gate directly, with a deadline-accurate timer and a typed cancel reason when the gate is blocked or stale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6282B"/>
                </a:solidFill>
              </a:rPr>
              <a:t>Optogenetic stimulation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515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7A7F87"/>
                </a:solidFill>
              </a:rPr>
              <a:t>New in reachAQ — no ancestor in either repository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6282B"/>
                </a:solidFill>
              </a:rPr>
              <a:t>•  Up to four lasers, each modeled independently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450592"/>
            <a:ext cx="10972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6282B"/>
                </a:solidFill>
              </a:rPr>
              <a:t>•  Analog and digital control paths per laser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980944"/>
            <a:ext cx="10972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6282B"/>
                </a:solidFill>
              </a:rPr>
              <a:t>•  Per-laser diode input and a command copy recorded alongside the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511295"/>
            <a:ext cx="10972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6282B"/>
                </a:solidFill>
              </a:rPr>
              <a:t>•  Shutter control, and a PMT shutter output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041648"/>
            <a:ext cx="10972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6282B"/>
                </a:solidFill>
              </a:rPr>
              <a:t>•  Hardware-timed NI-DAQ tasks, not Python-loop timing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489704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7A7F87"/>
                </a:solidFill>
              </a:rPr>
              <a:t>Where it came from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800600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B7F9E"/>
                </a:solidFill>
              </a:rPr>
              <a:t>reach-training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093208"/>
            <a:ext cx="3429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6282B"/>
                </a:solidFill>
              </a:rPr>
              <a:t>None — external stimulation was a separate LabVIEW system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400" y="4800600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A8C7A"/>
                </a:solidFill>
              </a:rPr>
              <a:t>auto-trainer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5093208"/>
            <a:ext cx="3429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6282B"/>
                </a:solidFill>
              </a:rPr>
              <a:t>None — no laser subsystem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4800600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B3593F"/>
                </a:solidFill>
              </a:rPr>
              <a:t>reachAQ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5093208"/>
            <a:ext cx="3429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6282B"/>
                </a:solidFill>
              </a:rPr>
              <a:t>Entirely new, built against the NI-DAQ channel inventory taken from the original LabVIEW control system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6282B"/>
                </a:solidFill>
              </a:rPr>
              <a:t>Trial protocols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82880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6282B"/>
                </a:solidFill>
              </a:rPr>
              <a:t>•  A trial is Tone 1, a drawn delay, then Tone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3317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6282B"/>
                </a:solidFill>
              </a:rPr>
              <a:t>•  Delay distributions use the published presets and probability vectors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8346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6282B"/>
                </a:solidFill>
              </a:rPr>
              <a:t>•  Stimulation epochs: baseline, stimulation, washout, sized in trials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6282B"/>
                </a:solidFill>
              </a:rPr>
              <a:t>•  Every per-trial draw is seeded from the trial identity, so sessions replay identically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84048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6282B"/>
                </a:solidFill>
              </a:rPr>
              <a:t>•  Protocols are edited in the application and versioned on disk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489704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7A7F87"/>
                </a:solidFill>
              </a:rPr>
              <a:t>Where it came from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800600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B7F9E"/>
                </a:solidFill>
              </a:rPr>
              <a:t>reach-training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093208"/>
            <a:ext cx="3429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6282B"/>
                </a:solidFill>
              </a:rPr>
              <a:t>Fixed protocols in scripts, delays drawn live at runtime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4800600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A8C7A"/>
                </a:solidFill>
              </a:rPr>
              <a:t>auto-trainer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400" y="5093208"/>
            <a:ext cx="3429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6282B"/>
                </a:solidFill>
              </a:rPr>
              <a:t>A training plan and phase structure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4800600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B3593F"/>
                </a:solidFill>
              </a:rPr>
              <a:t>reachAQ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5093208"/>
            <a:ext cx="3429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6282B"/>
                </a:solidFill>
              </a:rPr>
              <a:t>A protocol table with cue pairs and trigger profiles, published delay distributions, stimulation epochs, and an inter-trial timing target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6282B"/>
                </a:solidFill>
              </a:rPr>
              <a:t>Timing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515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7A7F87"/>
                </a:solidFill>
              </a:rPr>
              <a:t>Two loops, separate budgets, deliberately kept apart</a:t>
            </a:r>
          </a:p>
        </p:txBody>
      </p:sp>
      <p:pic>
        <p:nvPicPr>
          <p:cNvPr id="4" name="Picture 3" descr="two_ti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027" y="1645920"/>
            <a:ext cx="10295466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722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7A7F87"/>
                </a:solidFill>
              </a:rPr>
              <a:t>A stimulus condition that needs a 3D coordinate belongs to Tier 2, never to the 5 ms budget.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6282B"/>
                </a:solidFill>
              </a:rPr>
              <a:t>Data and metadata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9202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6282B"/>
                </a:solidFill>
              </a:rPr>
              <a:t>•  Every session writes video, timestamps, trial records, and events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6282B"/>
                </a:solidFill>
              </a:rPr>
              <a:t>•  Session metadata is schema v2, and embeds the full system configuration that produced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6282B"/>
                </a:solidFill>
              </a:rPr>
              <a:t>•  Hardware state is recorded as both configured and runtime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59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6282B"/>
                </a:solidFill>
              </a:rPr>
              <a:t>•  A validation command checks a finished session against a rule set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489704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7A7F87"/>
                </a:solidFill>
              </a:rPr>
              <a:t>Where it came from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800600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B7F9E"/>
                </a:solidFill>
              </a:rPr>
              <a:t>reach-training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093208"/>
            <a:ext cx="3429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6282B"/>
                </a:solidFill>
              </a:rPr>
              <a:t>Per-session YAML plus loose output files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4800600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A8C7A"/>
                </a:solidFill>
              </a:rPr>
              <a:t>auto-trainer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5093208"/>
            <a:ext cx="3429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6282B"/>
                </a:solidFill>
              </a:rPr>
              <a:t>Project and session structure with a metadata schema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4800600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B3593F"/>
                </a:solidFill>
              </a:rPr>
              <a:t>reachAQ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5093208"/>
            <a:ext cx="3429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6282B"/>
                </a:solidFill>
              </a:rPr>
              <a:t>Schema v2 with configuration embedding, alignment and trial-summary artifacts, and reachaq-validate-session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6282B"/>
                </a:solidFill>
              </a:rPr>
              <a:t>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515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7A7F87"/>
                </a:solidFill>
              </a:rPr>
              <a:t>No mouse today — so exactly one stage is substituted</a:t>
            </a:r>
          </a:p>
        </p:txBody>
      </p:sp>
      <p:pic>
        <p:nvPicPr>
          <p:cNvPr id="4" name="Picture 3" descr="demo_substit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4596" y="1627632"/>
            <a:ext cx="3792327" cy="1463040"/>
          </a:xfrm>
          <a:prstGeom prst="rect">
            <a:avLst/>
          </a:prstGeom>
        </p:spPr>
      </p:pic>
      <p:pic>
        <p:nvPicPr>
          <p:cNvPr id="5" name="Picture 4" descr="live_overl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8633" y="3154680"/>
            <a:ext cx="7024254" cy="2743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603504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7A7F87"/>
                </a:solidFill>
              </a:rPr>
              <a:t>Live 2D pose, per view, computed on the GPU from the played frames — captured from the running application on the rig.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6282B"/>
                </a:solidFill>
              </a:rPr>
              <a:t>Current status and 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A8C7A"/>
                </a:solidFill>
              </a:rPr>
              <a:t>Validated on the rig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3474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6282B"/>
                </a:solidFill>
              </a:rPr>
              <a:t>•  Camera acquisition, recording, session output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24328"/>
            <a:ext cx="3474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6282B"/>
                </a:solidFill>
              </a:rPr>
              <a:t>•  Pellet delivery over CAN, with firmware compatibility checking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282696"/>
            <a:ext cx="3474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6282B"/>
                </a:solidFill>
              </a:rPr>
              <a:t>•  NI-DAQ signal streaming and port configuration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43400" y="1554480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B3593F"/>
                </a:solidFill>
              </a:rPr>
              <a:t>Not yet validated on the rig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43400" y="1965960"/>
            <a:ext cx="34747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6282B"/>
                </a:solidFill>
              </a:rPr>
              <a:t>•  The 5 ms Tier 1 stim-loop budget, as a tail figure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43400" y="3017520"/>
            <a:ext cx="34747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6282B"/>
                </a:solidFill>
              </a:rPr>
              <a:t>•  Protocol timing, precheck and cue behaviour from the current work, which needs TTL and video proof before experimental use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1554480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7A7F87"/>
                </a:solidFill>
              </a:rPr>
              <a:t>Deferred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196596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6282B"/>
                </a:solidFill>
              </a:rPr>
              <a:t>•  Offline curation, RFID, SoftMouse automation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278892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6282B"/>
                </a:solidFill>
              </a:rPr>
              <a:t>•  Tunnel and head-fix behaviour inherited from auto-trainer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6282B"/>
                </a:solidFill>
              </a:rPr>
              <a:t>Getting started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515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7A7F87"/>
                </a:solidFill>
              </a:rPr>
              <a:t>Backup — leave up during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116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6282B"/>
                </a:solidFill>
              </a:rPr>
              <a:t>•  Install:  linux-install-instructions.md  and  tools/install/reachaq-linux-install.sh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517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6282B"/>
                </a:solidFill>
              </a:rPr>
              <a:t>•  Run:  python -m reachAQ.app -c ~/Autotrainer/system_configuration.yaml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2918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6282B"/>
                </a:solidFill>
              </a:rPr>
              <a:t>•  Demo mode:  docs/acquisition/demo-mode.md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931919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6282B"/>
                </a:solidFill>
              </a:rPr>
              <a:t>•  Session recording and synchronization:  docs/acquisition/session-recording-and-synchronization.md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5720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6282B"/>
                </a:solidFill>
              </a:rPr>
              <a:t>•  Trials and protocols:  docs/acquisition/session-trials-protocols.md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