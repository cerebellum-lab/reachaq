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8" r:id="rId7"/>
    <p:sldId id="261" r:id="rId8"/>
    <p:sldId id="262" r:id="rId9"/>
    <p:sldId id="263" r:id="rId10"/>
    <p:sldId id="264" r:id="rId11"/>
    <p:sldId id="265" r:id="rId12"/>
    <p:sldId id="266" r:id="rId13"/>
    <p:sldId id="267"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2" autoAdjust="0"/>
    <p:restoredTop sz="75464" autoAdjust="0"/>
  </p:normalViewPr>
  <p:slideViewPr>
    <p:cSldViewPr snapToGrid="0" snapToObjects="1">
      <p:cViewPr varScale="1">
        <p:scale>
          <a:sx n="120" d="100"/>
          <a:sy n="120" d="100"/>
        </p:scale>
        <p:origin x="178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329099-FACA-4BB4-BBB5-3A5F10C2A243}"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0C4488-60B0-4D06-81BB-CDA9EE800E65}" type="slidenum">
              <a:rPr lang="en-US" smtClean="0"/>
              <a:t>‹#›</a:t>
            </a:fld>
            <a:endParaRPr lang="en-US"/>
          </a:p>
        </p:txBody>
      </p:sp>
    </p:spTree>
    <p:extLst>
      <p:ext uri="{BB962C8B-B14F-4D97-AF65-F5344CB8AC3E}">
        <p14:creationId xmlns:p14="http://schemas.microsoft.com/office/powerpoint/2010/main" val="40827740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at the level of what the operator notices. The one sentence worth landing: reach-training watched and recorded, reachAQ decides and acts inside the same reach.</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plainly that we did not start over. reachAQ changed the hardware target, added stimulation and signal visualisation, and made the pose stream fast enough to act on. Everything underneath is auto-trainer's design.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slide exists so the later numbers have something to be measured against. The user-facing consequence is the line that matters: before, pose was a recording product; now it is a control input. Keep 5 </a:t>
            </a:r>
            <a:r>
              <a:rPr dirty="0" err="1"/>
              <a:t>ms</a:t>
            </a:r>
            <a:r>
              <a:rPr dirty="0"/>
              <a:t> described as a budget and a tail figure, never an average.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rtl="0"/>
            <a:r>
              <a:rPr dirty="0"/>
              <a:t>This is the words-before-the-graph slide. Technical detail for the members who want it: partial batch and the lean predict path need the </a:t>
            </a:r>
            <a:r>
              <a:rPr dirty="0" err="1"/>
              <a:t>PyTorch</a:t>
            </a:r>
            <a:r>
              <a:rPr dirty="0"/>
              <a:t> engine, because the TensorFlow graph fixes its batch size; the ROI crop from 256 to 128 </a:t>
            </a:r>
            <a:r>
              <a:rPr dirty="0" err="1"/>
              <a:t>px</a:t>
            </a:r>
            <a:r>
              <a:rPr dirty="0"/>
              <a:t> is opt-in and worth about 2.6x on the forward pass; the decode rewrite and the freshness drain are always on and model-independent. The freshness drain alone took end-to-end from 17.6 to 13.9 </a:t>
            </a:r>
            <a:r>
              <a:rPr dirty="0" err="1"/>
              <a:t>ms</a:t>
            </a:r>
            <a:r>
              <a:rPr dirty="0"/>
              <a:t> and cut frames the loop could not hand over from 35.2% to 0.7%.</a:t>
            </a:r>
            <a:br>
              <a:rPr lang="en-US" dirty="0"/>
            </a:br>
            <a:br>
              <a:rPr lang="en-US" dirty="0"/>
            </a:br>
            <a:r>
              <a:rPr lang="en-US" b="1" dirty="0"/>
              <a:t>CUDA graph capture.</a:t>
            </a:r>
            <a:r>
              <a:rPr lang="en-US" dirty="0"/>
              <a:t> A forward pass is hundreds of tiny kernel launches, and at this model and batch size the GPU finishes each one faster than the CPU can queue the next — so you're paying driver overhead, not compute. Capturing the sequence once and replaying it as a single submission removes that overhead: 7.4 → 3.6 </a:t>
            </a:r>
            <a:r>
              <a:rPr lang="en-US" dirty="0" err="1"/>
              <a:t>ms</a:t>
            </a:r>
            <a:r>
              <a:rPr lang="en-US" dirty="0"/>
              <a:t> per call. It only works because live inference always runs the same fixed shape into the same buffers, which is exactly what capture requires.</a:t>
            </a:r>
          </a:p>
          <a:p>
            <a:pPr rtl="0"/>
            <a:r>
              <a:rPr lang="en-US" b="1" dirty="0"/>
              <a:t>SCHED_FIFO.</a:t>
            </a:r>
            <a:r>
              <a:rPr lang="en-US" dirty="0"/>
              <a:t> The reflex detector's own compute never exceeded 0.09 </a:t>
            </a:r>
            <a:r>
              <a:rPr lang="en-US" dirty="0" err="1"/>
              <a:t>ms</a:t>
            </a:r>
            <a:r>
              <a:rPr lang="en-US" dirty="0"/>
              <a:t>, so the 6.05 </a:t>
            </a:r>
            <a:r>
              <a:rPr lang="en-US" dirty="0" err="1"/>
              <a:t>ms</a:t>
            </a:r>
            <a:r>
              <a:rPr lang="en-US" dirty="0"/>
              <a:t> worst case under load was entirely the scheduler not getting around to running it. </a:t>
            </a:r>
            <a:r>
              <a:rPr lang="en-US" sz="1200" kern="1200" dirty="0">
                <a:solidFill>
                  <a:schemeClr val="tx1"/>
                </a:solidFill>
                <a:latin typeface="+mn-lt"/>
                <a:ea typeface="+mn-ea"/>
                <a:cs typeface="+mn-cs"/>
              </a:rPr>
              <a:t>SCHED_FIFO</a:t>
            </a:r>
            <a:r>
              <a:rPr lang="en-US" dirty="0"/>
              <a:t> makes that thread preempt normal work immediately rather than waiting its turn, taking the worst case to 0.155 </a:t>
            </a:r>
            <a:r>
              <a:rPr lang="en-US" dirty="0" err="1"/>
              <a:t>ms</a:t>
            </a:r>
            <a:r>
              <a:rPr lang="en-US" dirty="0"/>
              <a:t> with zero missed deadlines. A PREEMPT_RT kernel was measured and declined — stock Linux already </a:t>
            </a:r>
            <a:r>
              <a:rPr lang="en-US" dirty="0" err="1"/>
              <a:t>honours</a:t>
            </a:r>
            <a:r>
              <a:rPr lang="en-US" dirty="0"/>
              <a:t> the preemption.</a:t>
            </a:r>
          </a:p>
          <a:p>
            <a:pPr rtl="0"/>
            <a:r>
              <a:rPr lang="en-US" b="1" dirty="0"/>
              <a:t>Performance governor.</a:t>
            </a:r>
            <a:r>
              <a:rPr lang="en-US" dirty="0"/>
              <a:t> The default </a:t>
            </a:r>
            <a:r>
              <a:rPr lang="en-US" sz="1200" kern="1200" dirty="0" err="1">
                <a:solidFill>
                  <a:schemeClr val="tx1"/>
                </a:solidFill>
                <a:latin typeface="+mn-lt"/>
                <a:ea typeface="+mn-ea"/>
                <a:cs typeface="+mn-cs"/>
              </a:rPr>
              <a:t>powersave</a:t>
            </a:r>
            <a:r>
              <a:rPr lang="en-US" dirty="0"/>
              <a:t> governor held the P-cores near 2700 MHz against a 5000 MHz ceiling, so the machine was quietly running at about half clock under sustained load. Setting </a:t>
            </a:r>
            <a:r>
              <a:rPr lang="en-US" sz="1200" kern="1200" dirty="0">
                <a:solidFill>
                  <a:schemeClr val="tx1"/>
                </a:solidFill>
                <a:latin typeface="+mn-lt"/>
                <a:ea typeface="+mn-ea"/>
                <a:cs typeface="+mn-cs"/>
              </a:rPr>
              <a:t>performance</a:t>
            </a:r>
            <a:r>
              <a:rPr lang="en-US" dirty="0"/>
              <a:t> took live inference from 12.55 to 10.79 </a:t>
            </a:r>
            <a:r>
              <a:rPr lang="en-US" dirty="0" err="1"/>
              <a:t>ms</a:t>
            </a:r>
            <a:r>
              <a:rPr lang="en-US" dirty="0"/>
              <a:t> p50, and 17.58 to 11.53 </a:t>
            </a:r>
            <a:r>
              <a:rPr lang="en-US" dirty="0" err="1"/>
              <a:t>ms</a:t>
            </a:r>
            <a:r>
              <a:rPr lang="en-US" dirty="0"/>
              <a:t> p99 — six milliseconds of tail from one configuration line.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4DB464-7B35-5069-842D-68AB1207E2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84A0B9-5363-A7FC-661D-A3FDAC38337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9339940-D33F-3606-1E0C-59FE6D4EC69D}"/>
              </a:ext>
            </a:extLst>
          </p:cNvPr>
          <p:cNvSpPr>
            <a:spLocks noGrp="1"/>
          </p:cNvSpPr>
          <p:nvPr>
            <p:ph type="body" sz="quarter" idx="3"/>
          </p:nvPr>
        </p:nvSpPr>
        <p:spPr/>
        <p:txBody>
          <a:bodyPr/>
          <a:lstStyle/>
          <a:p>
            <a:pPr rtl="0"/>
            <a:r>
              <a:rPr dirty="0"/>
              <a:t>This is the words-before-the-graph slide. Technical detail for the members who want it: partial batch and the lean predict path need the </a:t>
            </a:r>
            <a:r>
              <a:rPr dirty="0" err="1"/>
              <a:t>PyTorch</a:t>
            </a:r>
            <a:r>
              <a:rPr dirty="0"/>
              <a:t> engine, because the TensorFlow graph fixes its batch size; the ROI crop from 256 to 128 </a:t>
            </a:r>
            <a:r>
              <a:rPr dirty="0" err="1"/>
              <a:t>px</a:t>
            </a:r>
            <a:r>
              <a:rPr dirty="0"/>
              <a:t> is opt-in and worth about 2.6x on the forward pass; the decode rewrite and the freshness drain are always on and model-independent. The freshness drain alone took end-to-end from 17.6 to 13.9 </a:t>
            </a:r>
            <a:r>
              <a:rPr dirty="0" err="1"/>
              <a:t>ms</a:t>
            </a:r>
            <a:r>
              <a:rPr dirty="0"/>
              <a:t> and cut frames the loop could not hand over from 35.2% to 0.7%.</a:t>
            </a:r>
            <a:br>
              <a:rPr lang="en-US" dirty="0"/>
            </a:br>
            <a:br>
              <a:rPr lang="en-US" dirty="0"/>
            </a:br>
            <a:r>
              <a:rPr lang="en-US" b="1" dirty="0"/>
              <a:t>CUDA graph capture.</a:t>
            </a:r>
            <a:r>
              <a:rPr lang="en-US" dirty="0"/>
              <a:t> A forward pass is hundreds of tiny kernel launches, and at this model and batch size the GPU finishes each one faster than the CPU can queue the next — so you're paying driver overhead, not compute. Capturing the sequence once and replaying it as a single submission removes that overhead: 7.4 → 3.6 </a:t>
            </a:r>
            <a:r>
              <a:rPr lang="en-US" dirty="0" err="1"/>
              <a:t>ms</a:t>
            </a:r>
            <a:r>
              <a:rPr lang="en-US" dirty="0"/>
              <a:t> per call. It only works because live inference always runs the same fixed shape into the same buffers, which is exactly what capture requires.</a:t>
            </a:r>
          </a:p>
          <a:p>
            <a:pPr rtl="0"/>
            <a:r>
              <a:rPr lang="en-US" b="1" dirty="0"/>
              <a:t>SCHED_FIFO.</a:t>
            </a:r>
            <a:r>
              <a:rPr lang="en-US" dirty="0"/>
              <a:t> The reflex detector's own compute never exceeded 0.09 </a:t>
            </a:r>
            <a:r>
              <a:rPr lang="en-US" dirty="0" err="1"/>
              <a:t>ms</a:t>
            </a:r>
            <a:r>
              <a:rPr lang="en-US" dirty="0"/>
              <a:t>, so the 6.05 </a:t>
            </a:r>
            <a:r>
              <a:rPr lang="en-US" dirty="0" err="1"/>
              <a:t>ms</a:t>
            </a:r>
            <a:r>
              <a:rPr lang="en-US" dirty="0"/>
              <a:t> worst case under load was entirely the scheduler not getting around to running it. </a:t>
            </a:r>
            <a:r>
              <a:rPr lang="en-US" sz="1200" kern="1200" dirty="0">
                <a:solidFill>
                  <a:schemeClr val="tx1"/>
                </a:solidFill>
                <a:latin typeface="+mn-lt"/>
                <a:ea typeface="+mn-ea"/>
                <a:cs typeface="+mn-cs"/>
              </a:rPr>
              <a:t>SCHED_FIFO</a:t>
            </a:r>
            <a:r>
              <a:rPr lang="en-US" dirty="0"/>
              <a:t> makes that thread preempt normal work immediately rather than waiting its turn, taking the worst case to 0.155 </a:t>
            </a:r>
            <a:r>
              <a:rPr lang="en-US" dirty="0" err="1"/>
              <a:t>ms</a:t>
            </a:r>
            <a:r>
              <a:rPr lang="en-US" dirty="0"/>
              <a:t> with zero missed deadlines. A PREEMPT_RT kernel was measured and declined — stock Linux already </a:t>
            </a:r>
            <a:r>
              <a:rPr lang="en-US" dirty="0" err="1"/>
              <a:t>honours</a:t>
            </a:r>
            <a:r>
              <a:rPr lang="en-US" dirty="0"/>
              <a:t> the preemption.</a:t>
            </a:r>
          </a:p>
          <a:p>
            <a:pPr rtl="0"/>
            <a:r>
              <a:rPr lang="en-US" b="1" dirty="0"/>
              <a:t>Performance governor.</a:t>
            </a:r>
            <a:r>
              <a:rPr lang="en-US" dirty="0"/>
              <a:t> The default </a:t>
            </a:r>
            <a:r>
              <a:rPr lang="en-US" sz="1200" kern="1200" dirty="0" err="1">
                <a:solidFill>
                  <a:schemeClr val="tx1"/>
                </a:solidFill>
                <a:latin typeface="+mn-lt"/>
                <a:ea typeface="+mn-ea"/>
                <a:cs typeface="+mn-cs"/>
              </a:rPr>
              <a:t>powersave</a:t>
            </a:r>
            <a:r>
              <a:rPr lang="en-US" dirty="0"/>
              <a:t> governor held the P-cores near 2700 MHz against a 5000 MHz ceiling, so the machine was quietly running at about half clock under sustained load. Setting </a:t>
            </a:r>
            <a:r>
              <a:rPr lang="en-US" sz="1200" kern="1200" dirty="0">
                <a:solidFill>
                  <a:schemeClr val="tx1"/>
                </a:solidFill>
                <a:latin typeface="+mn-lt"/>
                <a:ea typeface="+mn-ea"/>
                <a:cs typeface="+mn-cs"/>
              </a:rPr>
              <a:t>performance</a:t>
            </a:r>
            <a:r>
              <a:rPr lang="en-US" dirty="0"/>
              <a:t> took live inference from 12.55 to 10.79 </a:t>
            </a:r>
            <a:r>
              <a:rPr lang="en-US" dirty="0" err="1"/>
              <a:t>ms</a:t>
            </a:r>
            <a:r>
              <a:rPr lang="en-US" dirty="0"/>
              <a:t> p50, and 17.58 to 11.53 </a:t>
            </a:r>
            <a:r>
              <a:rPr lang="en-US" dirty="0" err="1"/>
              <a:t>ms</a:t>
            </a:r>
            <a:r>
              <a:rPr lang="en-US" dirty="0"/>
              <a:t> p99 — six milliseconds of tail from one configuration line.</a:t>
            </a:r>
          </a:p>
          <a:p>
            <a:endParaRPr dirty="0"/>
          </a:p>
        </p:txBody>
      </p:sp>
      <p:sp>
        <p:nvSpPr>
          <p:cNvPr id="4" name="Slide Number Placeholder 3">
            <a:extLst>
              <a:ext uri="{FF2B5EF4-FFF2-40B4-BE49-F238E27FC236}">
                <a16:creationId xmlns:a16="http://schemas.microsoft.com/office/drawing/2014/main" id="{8F0119C2-B437-7304-85A0-2247BCE0D16E}"/>
              </a:ext>
            </a:extLst>
          </p:cNvPr>
          <p:cNvSpPr>
            <a:spLocks noGrp="1"/>
          </p:cNvSpPr>
          <p:nvPr>
            <p:ph type="sldNum" sz="quarter" idx="5"/>
          </p:nvPr>
        </p:nvSpPr>
        <p:spPr/>
      </p:sp>
    </p:spTree>
    <p:extLst>
      <p:ext uri="{BB962C8B-B14F-4D97-AF65-F5344CB8AC3E}">
        <p14:creationId xmlns:p14="http://schemas.microsoft.com/office/powerpoint/2010/main" val="35561808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under a 16-process load the reflex loop's worst case went from 6.05 ms, which breaks the budget, to 0.155 ms with zero missed deadlines and the full 900 Hz cadence restored. No PREEMPT_RT kernel and no core pinning — both measured, both declined. Right: the three pose-stream changes, each shown against its own before. Units differ between rows, which is why they are labelled per row rather than sharing an axis. All figures are rig measurements on this hardware, not claims about other cards.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framing is a menu, not a winner. A user optimising for a tight closed loop picks differently from one optimising for keypoint accuracy in later analysis. The per-backbone threshold matters: a cspnext_s never scores above 0.33, so a single global threshold would hold the reach flag permanently false.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asked about flags: a default rig gets the always-on wins, the decode rewrite and the freshness drain, plus the Tier 1 scheduling. The partial batch and lean predict path need the PyTorch backend selected, and the ROI crop is opt-in.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sync modes: auto, backplane, external, independent. Compatible PXI cards share PXI_CLK10, a backplane start trigger and a routed master sample clock. Devices resolve by product and serial, so a changed NI-DAQmx alias never silently rebinds to the wrong card. Tone confirmation cross-checks commanded tones against the pulses actually observed.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point for a new user is that this replaces post-hoc plotting. A decimated FSR trace is useless for behavioural analysis, so samples are forwarded unthrottled and an armed session gains roughly 166 rows a second. Worth flagging out loud: there is no microphone channel in the system today.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pinning behaviour is the part worth dwelling on. It is what stops an edit to a shared phase from quietly changing an experiment that was already validated.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Run order — launch with --demo or toggle Tools &gt; Demo Mode while idle; show both camera panels carrying their own overlay; show the NI-DAQ signal stream; drive the pellet device by hand; open the protocol editor and the experiment sidebar; start a recording and let trials run; stop and show the session directory with its DEMO marker. Point at the red banner — it is there so nobody mistakes a demo session for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58368" y="2240280"/>
            <a:ext cx="10874959" cy="1234440"/>
          </a:xfrm>
        </p:spPr>
        <p:txBody>
          <a:bodyPr/>
          <a:lstStyle/>
          <a:p>
            <a:pPr algn="l"/>
            <a:r>
              <a:rPr sz="5400" b="1" i="0">
                <a:solidFill>
                  <a:srgbClr val="1E242B"/>
                </a:solidFill>
                <a:latin typeface="Segoe UI"/>
              </a:rPr>
              <a:t>reachAQ</a:t>
            </a:r>
          </a:p>
        </p:txBody>
      </p:sp>
      <p:sp>
        <p:nvSpPr>
          <p:cNvPr id="3" name="Subtitle 2"/>
          <p:cNvSpPr>
            <a:spLocks noGrp="1"/>
          </p:cNvSpPr>
          <p:nvPr>
            <p:ph type="subTitle" idx="1"/>
          </p:nvPr>
        </p:nvSpPr>
        <p:spPr>
          <a:xfrm>
            <a:off x="658368" y="3520440"/>
            <a:ext cx="8686800" cy="914400"/>
          </a:xfrm>
        </p:spPr>
        <p:txBody>
          <a:bodyPr wrap="square"/>
          <a:lstStyle/>
          <a:p>
            <a:pPr algn="l"/>
            <a:r>
              <a:rPr sz="1700" b="0" i="0">
                <a:solidFill>
                  <a:srgbClr val="6B727B"/>
                </a:solidFill>
                <a:latin typeface="Segoe UI"/>
              </a:rPr>
              <a:t>Automated mouse reach acquisition — what changed, and what it costs in milliseconds</a:t>
            </a:r>
          </a:p>
        </p:txBody>
      </p:sp>
      <p:sp>
        <p:nvSpPr>
          <p:cNvPr id="4" name="Rectangle 3"/>
          <p:cNvSpPr/>
          <p:nvPr/>
        </p:nvSpPr>
        <p:spPr>
          <a:xfrm>
            <a:off x="658368" y="1965960"/>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What changed from reach-training</a:t>
            </a:r>
          </a:p>
        </p:txBody>
      </p:sp>
      <p:sp>
        <p:nvSpPr>
          <p:cNvPr id="3" name="Content Placeholder 2"/>
          <p:cNvSpPr>
            <a:spLocks noGrp="1"/>
          </p:cNvSpPr>
          <p:nvPr>
            <p:ph sz="half" idx="1"/>
          </p:nvPr>
        </p:nvSpPr>
        <p:spPr>
          <a:xfrm>
            <a:off x="658368" y="2487168"/>
            <a:ext cx="5186019" cy="3593592"/>
          </a:xfrm>
        </p:spPr>
        <p:txBody>
          <a:bodyPr wrap="square"/>
          <a:lstStyle/>
          <a:p>
            <a:pPr>
              <a:spcAft>
                <a:spcPts val="1100"/>
              </a:spcAft>
            </a:pPr>
            <a:r>
              <a:rPr sz="1350" b="0" i="0" dirty="0">
                <a:solidFill>
                  <a:srgbClr val="1E242B"/>
                </a:solidFill>
                <a:latin typeface="Segoe UI"/>
              </a:rPr>
              <a:t>Reach detected by a brightness threshold inside a drawn ROI</a:t>
            </a:r>
          </a:p>
          <a:p>
            <a:pPr>
              <a:spcAft>
                <a:spcPts val="1100"/>
              </a:spcAft>
            </a:pPr>
            <a:r>
              <a:rPr sz="1350" b="0" i="0" dirty="0">
                <a:solidFill>
                  <a:srgbClr val="1E242B"/>
                </a:solidFill>
                <a:latin typeface="Segoe UI"/>
              </a:rPr>
              <a:t>Pellet arm driven by an Arduino over USB serial</a:t>
            </a:r>
          </a:p>
          <a:p>
            <a:pPr>
              <a:spcAft>
                <a:spcPts val="1100"/>
              </a:spcAft>
            </a:pPr>
            <a:r>
              <a:rPr sz="1350" b="0" i="0" dirty="0">
                <a:solidFill>
                  <a:srgbClr val="1E242B"/>
                </a:solidFill>
                <a:latin typeface="Segoe UI"/>
              </a:rPr>
              <a:t>Timing owned by a Python loop on the host</a:t>
            </a:r>
          </a:p>
          <a:p>
            <a:pPr>
              <a:spcAft>
                <a:spcPts val="1100"/>
              </a:spcAft>
            </a:pPr>
            <a:r>
              <a:rPr sz="1350" b="0" i="0" dirty="0">
                <a:solidFill>
                  <a:srgbClr val="1E242B"/>
                </a:solidFill>
                <a:latin typeface="Segoe UI"/>
              </a:rPr>
              <a:t>Signals inspected afterwards, from files</a:t>
            </a:r>
          </a:p>
          <a:p>
            <a:pPr>
              <a:spcAft>
                <a:spcPts val="1100"/>
              </a:spcAft>
            </a:pPr>
            <a:r>
              <a:rPr sz="1350" b="0" i="0" dirty="0">
                <a:solidFill>
                  <a:srgbClr val="1E242B"/>
                </a:solidFill>
                <a:latin typeface="Segoe UI"/>
              </a:rPr>
              <a:t>One flat protocol per experiment, </a:t>
            </a:r>
            <a:r>
              <a:rPr lang="en-US" sz="1350" b="0" i="0" dirty="0">
                <a:solidFill>
                  <a:srgbClr val="1E242B"/>
                </a:solidFill>
                <a:latin typeface="Segoe UI"/>
              </a:rPr>
              <a:t>configurable behavior queried per trial; no </a:t>
            </a:r>
            <a:r>
              <a:rPr lang="en-US" sz="1350" dirty="0">
                <a:solidFill>
                  <a:srgbClr val="1E242B"/>
                </a:solidFill>
                <a:latin typeface="Segoe UI"/>
              </a:rPr>
              <a:t>need for manual intervention</a:t>
            </a:r>
            <a:endParaRPr sz="1350" b="0" i="0" dirty="0">
              <a:solidFill>
                <a:srgbClr val="1E242B"/>
              </a:solidFill>
              <a:latin typeface="Segoe UI"/>
            </a:endParaRPr>
          </a:p>
        </p:txBody>
      </p:sp>
      <p:sp>
        <p:nvSpPr>
          <p:cNvPr id="4" name="Content Placeholder 3"/>
          <p:cNvSpPr>
            <a:spLocks noGrp="1"/>
          </p:cNvSpPr>
          <p:nvPr>
            <p:ph sz="half" idx="2"/>
          </p:nvPr>
        </p:nvSpPr>
        <p:spPr>
          <a:xfrm>
            <a:off x="6347307" y="2487168"/>
            <a:ext cx="5186019" cy="3593592"/>
          </a:xfrm>
        </p:spPr>
        <p:txBody>
          <a:bodyPr wrap="square"/>
          <a:lstStyle/>
          <a:p>
            <a:pPr>
              <a:spcAft>
                <a:spcPts val="1100"/>
              </a:spcAft>
            </a:pPr>
            <a:r>
              <a:rPr sz="1350" b="0" i="0" dirty="0">
                <a:solidFill>
                  <a:srgbClr val="1E242B"/>
                </a:solidFill>
                <a:latin typeface="Segoe UI"/>
              </a:rPr>
              <a:t>Two closed loops — a fast ROI reflex, and machine vision on the pose stream</a:t>
            </a:r>
          </a:p>
          <a:p>
            <a:pPr>
              <a:spcAft>
                <a:spcPts val="1100"/>
              </a:spcAft>
            </a:pPr>
            <a:r>
              <a:rPr sz="1350" b="0" i="0" dirty="0">
                <a:solidFill>
                  <a:srgbClr val="1E242B"/>
                </a:solidFill>
                <a:latin typeface="Segoe UI"/>
              </a:rPr>
              <a:t>Pellet arm on a CAN bus, with firmware capability checks </a:t>
            </a:r>
            <a:r>
              <a:rPr lang="en-US" sz="1350" b="0" i="0" dirty="0">
                <a:solidFill>
                  <a:srgbClr val="1E242B"/>
                </a:solidFill>
                <a:latin typeface="Segoe UI"/>
              </a:rPr>
              <a:t>various added sensors</a:t>
            </a:r>
            <a:endParaRPr sz="1350" b="0" i="0" dirty="0">
              <a:solidFill>
                <a:srgbClr val="1E242B"/>
              </a:solidFill>
              <a:latin typeface="Segoe UI"/>
            </a:endParaRPr>
          </a:p>
          <a:p>
            <a:pPr>
              <a:spcAft>
                <a:spcPts val="1100"/>
              </a:spcAft>
            </a:pPr>
            <a:r>
              <a:rPr sz="1350" b="0" i="0" dirty="0">
                <a:solidFill>
                  <a:srgbClr val="1E242B"/>
                </a:solidFill>
                <a:latin typeface="Segoe UI"/>
              </a:rPr>
              <a:t>Timing owned by hardware-timed NI-DAQ tasks </a:t>
            </a:r>
            <a:endParaRPr lang="en-US" sz="1350" b="0" i="0" dirty="0">
              <a:solidFill>
                <a:srgbClr val="1E242B"/>
              </a:solidFill>
              <a:latin typeface="Segoe UI"/>
            </a:endParaRPr>
          </a:p>
          <a:p>
            <a:pPr>
              <a:spcAft>
                <a:spcPts val="1100"/>
              </a:spcAft>
            </a:pPr>
            <a:r>
              <a:rPr sz="1350" b="0" i="0" dirty="0">
                <a:solidFill>
                  <a:srgbClr val="1E242B"/>
                </a:solidFill>
                <a:latin typeface="Segoe UI"/>
              </a:rPr>
              <a:t>Signals plotted live during the session, and recorded unfiltered</a:t>
            </a:r>
          </a:p>
          <a:p>
            <a:pPr>
              <a:spcAft>
                <a:spcPts val="1100"/>
              </a:spcAft>
            </a:pPr>
            <a:r>
              <a:rPr sz="1350" b="0" i="0" dirty="0">
                <a:solidFill>
                  <a:srgbClr val="1E242B"/>
                </a:solidFill>
                <a:latin typeface="Segoe UI"/>
              </a:rPr>
              <a:t>Experiments composed from reusable trial sets, with reproducible draws</a:t>
            </a:r>
          </a:p>
        </p:txBody>
      </p:sp>
      <p:sp>
        <p:nvSpPr>
          <p:cNvPr id="5" name="Rectangle 4"/>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Same experiment. The difference is what the system can do while the reach is still happening.</a:t>
            </a:r>
          </a:p>
        </p:txBody>
      </p:sp>
      <p:sp>
        <p:nvSpPr>
          <p:cNvPr id="7" name="TextBox 6"/>
          <p:cNvSpPr txBox="1"/>
          <p:nvPr/>
        </p:nvSpPr>
        <p:spPr>
          <a:xfrm>
            <a:off x="658368" y="2103120"/>
            <a:ext cx="5186019" cy="347472"/>
          </a:xfrm>
          <a:prstGeom prst="rect">
            <a:avLst/>
          </a:prstGeom>
          <a:noFill/>
        </p:spPr>
        <p:txBody>
          <a:bodyPr wrap="none">
            <a:spAutoFit/>
          </a:bodyPr>
          <a:lstStyle/>
          <a:p>
            <a:r>
              <a:rPr sz="1500" b="1" i="0">
                <a:solidFill>
                  <a:srgbClr val="6B7F9E"/>
                </a:solidFill>
                <a:latin typeface="Segoe UI"/>
              </a:rPr>
              <a:t>reach-training</a:t>
            </a:r>
          </a:p>
        </p:txBody>
      </p:sp>
      <p:sp>
        <p:nvSpPr>
          <p:cNvPr id="8" name="TextBox 7"/>
          <p:cNvSpPr txBox="1"/>
          <p:nvPr/>
        </p:nvSpPr>
        <p:spPr>
          <a:xfrm>
            <a:off x="6347307" y="2103120"/>
            <a:ext cx="5186019" cy="347472"/>
          </a:xfrm>
          <a:prstGeom prst="rect">
            <a:avLst/>
          </a:prstGeom>
          <a:noFill/>
        </p:spPr>
        <p:txBody>
          <a:bodyPr wrap="none">
            <a:spAutoFit/>
          </a:bodyPr>
          <a:lstStyle/>
          <a:p>
            <a:r>
              <a:rPr sz="1500" b="1" i="0">
                <a:solidFill>
                  <a:srgbClr val="B3593F"/>
                </a:solidFill>
                <a:latin typeface="Segoe UI"/>
              </a:rPr>
              <a:t>reachAQ</a:t>
            </a:r>
          </a:p>
        </p:txBody>
      </p:sp>
      <p:sp>
        <p:nvSpPr>
          <p:cNvPr id="9" name="TextBox 8"/>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10" name="TextBox 9"/>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What came from auto-trainer</a:t>
            </a:r>
          </a:p>
        </p:txBody>
      </p:sp>
      <p:sp>
        <p:nvSpPr>
          <p:cNvPr id="3" name="Content Placeholder 2"/>
          <p:cNvSpPr>
            <a:spLocks noGrp="1"/>
          </p:cNvSpPr>
          <p:nvPr>
            <p:ph idx="1"/>
          </p:nvPr>
        </p:nvSpPr>
        <p:spPr>
          <a:xfrm>
            <a:off x="658368" y="2057400"/>
            <a:ext cx="10874959" cy="4023360"/>
          </a:xfrm>
        </p:spPr>
        <p:txBody>
          <a:bodyPr wrap="square"/>
          <a:lstStyle/>
          <a:p>
            <a:pPr>
              <a:spcAft>
                <a:spcPts val="1300"/>
              </a:spcAft>
            </a:pPr>
            <a:r>
              <a:rPr sz="1500" b="0" i="0" dirty="0">
                <a:solidFill>
                  <a:srgbClr val="1E242B"/>
                </a:solidFill>
                <a:latin typeface="Segoe UI"/>
              </a:rPr>
              <a:t>The modular package split — core, video, device, inference, behavior, model, </a:t>
            </a:r>
            <a:r>
              <a:rPr sz="1500" b="0" i="0" dirty="0" err="1">
                <a:solidFill>
                  <a:srgbClr val="1E242B"/>
                </a:solidFill>
                <a:latin typeface="Segoe UI"/>
              </a:rPr>
              <a:t>pyside</a:t>
            </a:r>
            <a:r>
              <a:rPr sz="1500" b="0" i="0" dirty="0">
                <a:solidFill>
                  <a:srgbClr val="1E242B"/>
                </a:solidFill>
                <a:latin typeface="Segoe UI"/>
              </a:rPr>
              <a:t> — which is why hardware can be swapped without touching the rest</a:t>
            </a:r>
          </a:p>
          <a:p>
            <a:pPr>
              <a:spcAft>
                <a:spcPts val="1300"/>
              </a:spcAft>
            </a:pPr>
            <a:r>
              <a:rPr sz="1500" b="0" i="0" dirty="0">
                <a:solidFill>
                  <a:srgbClr val="1E242B"/>
                </a:solidFill>
                <a:latin typeface="Segoe UI"/>
              </a:rPr>
              <a:t>Per-process video capture with a shared synchronized frame index, so frame N means the same instant on every camera</a:t>
            </a:r>
          </a:p>
          <a:p>
            <a:pPr>
              <a:spcAft>
                <a:spcPts val="1300"/>
              </a:spcAft>
            </a:pPr>
            <a:r>
              <a:rPr sz="1500" b="0" i="0" dirty="0">
                <a:solidFill>
                  <a:srgbClr val="1E242B"/>
                </a:solidFill>
                <a:latin typeface="Segoe UI"/>
              </a:rPr>
              <a:t>Pose inference and FLIR stereo calibration, already integrated into the application rather than run afterwards</a:t>
            </a:r>
          </a:p>
          <a:p>
            <a:pPr>
              <a:spcAft>
                <a:spcPts val="1300"/>
              </a:spcAft>
            </a:pPr>
            <a:r>
              <a:rPr sz="1500" b="0" i="0" dirty="0">
                <a:solidFill>
                  <a:srgbClr val="1E242B"/>
                </a:solidFill>
                <a:latin typeface="Segoe UI"/>
              </a:rPr>
              <a:t>The CAN </a:t>
            </a:r>
            <a:r>
              <a:rPr lang="en-US" sz="1500" b="0" i="0" dirty="0">
                <a:solidFill>
                  <a:srgbClr val="1E242B"/>
                </a:solidFill>
                <a:latin typeface="Segoe UI"/>
              </a:rPr>
              <a:t>abstraction layer</a:t>
            </a:r>
            <a:r>
              <a:rPr sz="1500" b="0" i="0" dirty="0">
                <a:solidFill>
                  <a:srgbClr val="1E242B"/>
                </a:solidFill>
                <a:latin typeface="Segoe UI"/>
              </a:rPr>
              <a:t>, and </a:t>
            </a:r>
            <a:r>
              <a:rPr lang="en-US" sz="1500" dirty="0">
                <a:solidFill>
                  <a:srgbClr val="1E242B"/>
                </a:solidFill>
                <a:latin typeface="Segoe UI"/>
              </a:rPr>
              <a:t>general</a:t>
            </a:r>
            <a:r>
              <a:rPr sz="1500" b="0" i="0" dirty="0">
                <a:solidFill>
                  <a:srgbClr val="1E242B"/>
                </a:solidFill>
                <a:latin typeface="Segoe UI"/>
              </a:rPr>
              <a:t> project, session and metadata structure that makes a recording self-describing</a:t>
            </a:r>
          </a:p>
          <a:p>
            <a:pPr>
              <a:spcAft>
                <a:spcPts val="1300"/>
              </a:spcAft>
            </a:pPr>
            <a:r>
              <a:rPr sz="1500" b="0" i="0" dirty="0">
                <a:solidFill>
                  <a:srgbClr val="1E242B"/>
                </a:solidFill>
                <a:latin typeface="Segoe UI"/>
              </a:rPr>
              <a:t>The PySide6 UI layer and its panel patterns</a:t>
            </a:r>
          </a:p>
        </p:txBody>
      </p:sp>
      <p:sp>
        <p:nvSpPr>
          <p:cNvPr id="4" name="Rectangle 3"/>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reachAQ is built on auto-trainer, not beside it. The architecture and most of the runtime are theirs.</a:t>
            </a:r>
          </a:p>
        </p:txBody>
      </p:sp>
      <p:sp>
        <p:nvSpPr>
          <p:cNvPr id="6" name="TextBox 5"/>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7" name="TextBox 6"/>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Why pose could not close a loop before</a:t>
            </a:r>
          </a:p>
        </p:txBody>
      </p:sp>
      <p:sp>
        <p:nvSpPr>
          <p:cNvPr id="3" name="Content Placeholder 2"/>
          <p:cNvSpPr>
            <a:spLocks noGrp="1"/>
          </p:cNvSpPr>
          <p:nvPr>
            <p:ph sz="half" idx="1"/>
          </p:nvPr>
        </p:nvSpPr>
        <p:spPr>
          <a:xfrm>
            <a:off x="658368" y="2487168"/>
            <a:ext cx="5186019" cy="3593592"/>
          </a:xfrm>
        </p:spPr>
        <p:txBody>
          <a:bodyPr wrap="square"/>
          <a:lstStyle/>
          <a:p>
            <a:pPr>
              <a:spcAft>
                <a:spcPts val="1100"/>
              </a:spcAft>
            </a:pPr>
            <a:r>
              <a:rPr sz="1350" b="0" i="0" dirty="0">
                <a:solidFill>
                  <a:srgbClr val="1E242B"/>
                </a:solidFill>
                <a:latin typeface="Segoe UI"/>
              </a:rPr>
              <a:t>Reach cameras run at 150 fps — a 6.667 </a:t>
            </a:r>
            <a:r>
              <a:rPr sz="1350" b="0" i="0" dirty="0" err="1">
                <a:solidFill>
                  <a:srgbClr val="1E242B"/>
                </a:solidFill>
                <a:latin typeface="Segoe UI"/>
              </a:rPr>
              <a:t>ms</a:t>
            </a:r>
            <a:r>
              <a:rPr sz="1350" b="0" i="0" dirty="0">
                <a:solidFill>
                  <a:srgbClr val="1E242B"/>
                </a:solidFill>
                <a:latin typeface="Segoe UI"/>
              </a:rPr>
              <a:t> per-frame budget for the pose stream</a:t>
            </a:r>
          </a:p>
          <a:p>
            <a:pPr>
              <a:spcAft>
                <a:spcPts val="1100"/>
              </a:spcAft>
            </a:pPr>
            <a:r>
              <a:rPr sz="1350" b="0" i="0" dirty="0">
                <a:solidFill>
                  <a:srgbClr val="1E242B"/>
                </a:solidFill>
                <a:latin typeface="Segoe UI"/>
              </a:rPr>
              <a:t>The stim camera runs at 900 Hz — a 5 </a:t>
            </a:r>
            <a:r>
              <a:rPr sz="1350" b="0" i="0" dirty="0" err="1">
                <a:solidFill>
                  <a:srgbClr val="1E242B"/>
                </a:solidFill>
                <a:latin typeface="Segoe UI"/>
              </a:rPr>
              <a:t>ms</a:t>
            </a:r>
            <a:r>
              <a:rPr sz="1350" b="0" i="0" dirty="0">
                <a:solidFill>
                  <a:srgbClr val="1E242B"/>
                </a:solidFill>
                <a:latin typeface="Segoe UI"/>
              </a:rPr>
              <a:t> </a:t>
            </a:r>
            <a:r>
              <a:rPr lang="en-US" sz="1350" b="0" i="0" dirty="0">
                <a:solidFill>
                  <a:srgbClr val="1E242B"/>
                </a:solidFill>
                <a:latin typeface="Segoe UI"/>
              </a:rPr>
              <a:t>target</a:t>
            </a:r>
            <a:r>
              <a:rPr sz="1350" b="0" i="0" dirty="0">
                <a:solidFill>
                  <a:srgbClr val="1E242B"/>
                </a:solidFill>
                <a:latin typeface="Segoe UI"/>
              </a:rPr>
              <a:t> for the reflex that fires the laser. </a:t>
            </a:r>
            <a:endParaRPr lang="en-US" sz="1350" b="0" i="0" dirty="0">
              <a:solidFill>
                <a:srgbClr val="1E242B"/>
              </a:solidFill>
              <a:latin typeface="Segoe UI"/>
            </a:endParaRPr>
          </a:p>
          <a:p>
            <a:pPr>
              <a:spcAft>
                <a:spcPts val="1100"/>
              </a:spcAft>
            </a:pPr>
            <a:r>
              <a:rPr sz="1350" b="0" i="0" dirty="0">
                <a:solidFill>
                  <a:srgbClr val="1E242B"/>
                </a:solidFill>
                <a:latin typeface="Segoe UI"/>
              </a:rPr>
              <a:t>The reflex detector's own compute is under 0.1 </a:t>
            </a:r>
            <a:r>
              <a:rPr sz="1350" b="0" i="0" dirty="0" err="1">
                <a:solidFill>
                  <a:srgbClr val="1E242B"/>
                </a:solidFill>
                <a:latin typeface="Segoe UI"/>
              </a:rPr>
              <a:t>ms</a:t>
            </a:r>
            <a:r>
              <a:rPr sz="1350" b="0" i="0" dirty="0">
                <a:solidFill>
                  <a:srgbClr val="1E242B"/>
                </a:solidFill>
                <a:latin typeface="Segoe UI"/>
              </a:rPr>
              <a:t>, so its problem was never arithmetic — it was the OS delivering it on time</a:t>
            </a:r>
          </a:p>
        </p:txBody>
      </p:sp>
      <p:sp>
        <p:nvSpPr>
          <p:cNvPr id="4" name="Content Placeholder 3"/>
          <p:cNvSpPr>
            <a:spLocks noGrp="1"/>
          </p:cNvSpPr>
          <p:nvPr>
            <p:ph sz="half" idx="2"/>
          </p:nvPr>
        </p:nvSpPr>
        <p:spPr>
          <a:xfrm>
            <a:off x="6347307" y="2487168"/>
            <a:ext cx="5186019" cy="3593592"/>
          </a:xfrm>
        </p:spPr>
        <p:txBody>
          <a:bodyPr wrap="square"/>
          <a:lstStyle/>
          <a:p>
            <a:pPr>
              <a:spcAft>
                <a:spcPts val="1100"/>
              </a:spcAft>
            </a:pPr>
            <a:r>
              <a:rPr sz="1350" b="0" i="0" dirty="0" err="1">
                <a:solidFill>
                  <a:srgbClr val="1E242B"/>
                </a:solidFill>
                <a:latin typeface="Segoe UI"/>
              </a:rPr>
              <a:t>DeepLabCut</a:t>
            </a:r>
            <a:r>
              <a:rPr sz="1350" b="0" i="0" dirty="0">
                <a:solidFill>
                  <a:srgbClr val="1E242B"/>
                </a:solidFill>
                <a:latin typeface="Segoe UI"/>
              </a:rPr>
              <a:t> on TensorFlow with ResNet-50 cost</a:t>
            </a:r>
            <a:r>
              <a:rPr lang="en-US" sz="1350" dirty="0">
                <a:solidFill>
                  <a:srgbClr val="1E242B"/>
                </a:solidFill>
                <a:latin typeface="Segoe UI"/>
              </a:rPr>
              <a:t> between 25 and </a:t>
            </a:r>
            <a:r>
              <a:rPr sz="1350" b="0" i="0" dirty="0">
                <a:solidFill>
                  <a:srgbClr val="1E242B"/>
                </a:solidFill>
                <a:latin typeface="Segoe UI"/>
              </a:rPr>
              <a:t>5</a:t>
            </a:r>
            <a:r>
              <a:rPr lang="en-US" sz="1350" b="0" i="0" dirty="0">
                <a:solidFill>
                  <a:srgbClr val="1E242B"/>
                </a:solidFill>
                <a:latin typeface="Segoe UI"/>
              </a:rPr>
              <a:t>5</a:t>
            </a:r>
            <a:r>
              <a:rPr sz="1350" b="0" i="0" dirty="0">
                <a:solidFill>
                  <a:srgbClr val="1E242B"/>
                </a:solidFill>
                <a:latin typeface="Segoe UI"/>
              </a:rPr>
              <a:t> </a:t>
            </a:r>
            <a:r>
              <a:rPr sz="1350" b="0" i="0" dirty="0" err="1">
                <a:solidFill>
                  <a:srgbClr val="1E242B"/>
                </a:solidFill>
                <a:latin typeface="Segoe UI"/>
              </a:rPr>
              <a:t>ms</a:t>
            </a:r>
            <a:r>
              <a:rPr sz="1350" b="0" i="0" dirty="0">
                <a:solidFill>
                  <a:srgbClr val="1E242B"/>
                </a:solidFill>
                <a:latin typeface="Segoe UI"/>
              </a:rPr>
              <a:t> per batch — about 1</a:t>
            </a:r>
            <a:r>
              <a:rPr lang="en-US" sz="1350" dirty="0">
                <a:solidFill>
                  <a:srgbClr val="1E242B"/>
                </a:solidFill>
                <a:latin typeface="Segoe UI"/>
              </a:rPr>
              <a:t>8</a:t>
            </a:r>
            <a:r>
              <a:rPr lang="en-US" sz="1350" b="0" i="0" dirty="0">
                <a:solidFill>
                  <a:srgbClr val="1E242B"/>
                </a:solidFill>
                <a:latin typeface="Segoe UI"/>
              </a:rPr>
              <a:t>-40</a:t>
            </a:r>
            <a:r>
              <a:rPr sz="1350" b="0" i="0" dirty="0">
                <a:solidFill>
                  <a:srgbClr val="1E242B"/>
                </a:solidFill>
                <a:latin typeface="Segoe UI"/>
              </a:rPr>
              <a:t> Hz</a:t>
            </a:r>
          </a:p>
          <a:p>
            <a:pPr>
              <a:spcAft>
                <a:spcPts val="1100"/>
              </a:spcAft>
            </a:pPr>
            <a:r>
              <a:rPr sz="1350" b="0" i="0" dirty="0">
                <a:solidFill>
                  <a:srgbClr val="1E242B"/>
                </a:solidFill>
                <a:latin typeface="Segoe UI"/>
              </a:rPr>
              <a:t>That was the largest single latency term in the system, and roughly eight times over the frame budget</a:t>
            </a:r>
          </a:p>
          <a:p>
            <a:pPr>
              <a:spcAft>
                <a:spcPts val="1100"/>
              </a:spcAft>
            </a:pPr>
            <a:r>
              <a:rPr sz="1350" b="0" i="0" dirty="0">
                <a:solidFill>
                  <a:srgbClr val="1E242B"/>
                </a:solidFill>
                <a:latin typeface="Segoe UI"/>
              </a:rPr>
              <a:t>Pose could describe behavior afterwards, but nothing could be decided from it while the reach was happening</a:t>
            </a:r>
          </a:p>
        </p:txBody>
      </p:sp>
      <p:sp>
        <p:nvSpPr>
          <p:cNvPr id="5" name="Rectangle 4"/>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Two cameras, two deadlines. The pose path missed its by a factor of eight.</a:t>
            </a:r>
          </a:p>
        </p:txBody>
      </p:sp>
      <p:sp>
        <p:nvSpPr>
          <p:cNvPr id="7" name="TextBox 6"/>
          <p:cNvSpPr txBox="1"/>
          <p:nvPr/>
        </p:nvSpPr>
        <p:spPr>
          <a:xfrm>
            <a:off x="658368" y="2103120"/>
            <a:ext cx="5186019" cy="347472"/>
          </a:xfrm>
          <a:prstGeom prst="rect">
            <a:avLst/>
          </a:prstGeom>
          <a:noFill/>
        </p:spPr>
        <p:txBody>
          <a:bodyPr wrap="none">
            <a:spAutoFit/>
          </a:bodyPr>
          <a:lstStyle/>
          <a:p>
            <a:r>
              <a:rPr sz="1500" b="1" i="0">
                <a:solidFill>
                  <a:srgbClr val="6B7F9E"/>
                </a:solidFill>
                <a:latin typeface="Segoe UI"/>
              </a:rPr>
              <a:t>What has to be fast</a:t>
            </a:r>
          </a:p>
        </p:txBody>
      </p:sp>
      <p:sp>
        <p:nvSpPr>
          <p:cNvPr id="8" name="TextBox 7"/>
          <p:cNvSpPr txBox="1"/>
          <p:nvPr/>
        </p:nvSpPr>
        <p:spPr>
          <a:xfrm>
            <a:off x="6347307" y="2103120"/>
            <a:ext cx="5186019" cy="347472"/>
          </a:xfrm>
          <a:prstGeom prst="rect">
            <a:avLst/>
          </a:prstGeom>
          <a:noFill/>
        </p:spPr>
        <p:txBody>
          <a:bodyPr wrap="none">
            <a:spAutoFit/>
          </a:bodyPr>
          <a:lstStyle/>
          <a:p>
            <a:r>
              <a:rPr sz="1500" b="1" i="0">
                <a:solidFill>
                  <a:srgbClr val="B3593F"/>
                </a:solidFill>
                <a:latin typeface="Segoe UI"/>
              </a:rPr>
              <a:t>Where it started</a:t>
            </a:r>
          </a:p>
        </p:txBody>
      </p:sp>
      <p:sp>
        <p:nvSpPr>
          <p:cNvPr id="9" name="TextBox 8"/>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10" name="TextBox 9"/>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dirty="0">
                <a:solidFill>
                  <a:srgbClr val="1E242B"/>
                </a:solidFill>
                <a:latin typeface="Segoe UI"/>
              </a:rPr>
              <a:t>What we changed</a:t>
            </a:r>
          </a:p>
        </p:txBody>
      </p:sp>
      <p:sp>
        <p:nvSpPr>
          <p:cNvPr id="3" name="Content Placeholder 2"/>
          <p:cNvSpPr>
            <a:spLocks noGrp="1"/>
          </p:cNvSpPr>
          <p:nvPr>
            <p:ph idx="1"/>
          </p:nvPr>
        </p:nvSpPr>
        <p:spPr>
          <a:xfrm>
            <a:off x="658368" y="2057400"/>
            <a:ext cx="10874959" cy="4023360"/>
          </a:xfrm>
        </p:spPr>
        <p:txBody>
          <a:bodyPr wrap="square">
            <a:normAutofit/>
          </a:bodyPr>
          <a:lstStyle/>
          <a:p>
            <a:pPr>
              <a:spcAft>
                <a:spcPts val="1300"/>
              </a:spcAft>
            </a:pPr>
            <a:r>
              <a:rPr lang="en-US" sz="1500" b="0" i="0" dirty="0">
                <a:solidFill>
                  <a:srgbClr val="1E242B"/>
                </a:solidFill>
                <a:latin typeface="Segoe UI"/>
              </a:rPr>
              <a:t>Split the work by how tight a deadline each loop can guarantee, not by what it is allowed to do. </a:t>
            </a:r>
          </a:p>
          <a:p>
            <a:pPr lvl="1">
              <a:spcAft>
                <a:spcPts val="1300"/>
              </a:spcAft>
            </a:pPr>
            <a:r>
              <a:rPr lang="en-US" sz="1100" b="1" i="0" dirty="0">
                <a:solidFill>
                  <a:srgbClr val="1E242B"/>
                </a:solidFill>
                <a:latin typeface="Segoe UI"/>
              </a:rPr>
              <a:t>The ROI detector on the stim camera holds a millisecond deadline</a:t>
            </a:r>
          </a:p>
          <a:p>
            <a:pPr lvl="1">
              <a:spcAft>
                <a:spcPts val="1300"/>
              </a:spcAft>
            </a:pPr>
            <a:r>
              <a:rPr lang="en-US" sz="1100" b="1" i="0" dirty="0">
                <a:solidFill>
                  <a:srgbClr val="1E242B"/>
                </a:solidFill>
                <a:latin typeface="Segoe UI"/>
              </a:rPr>
              <a:t>The pose stream drives hardware too, bounded timewise by end-to-end inference speed</a:t>
            </a:r>
          </a:p>
          <a:p>
            <a:pPr>
              <a:spcAft>
                <a:spcPts val="1300"/>
              </a:spcAft>
            </a:pPr>
            <a:r>
              <a:rPr lang="en-US" sz="1500" b="1" i="0" dirty="0">
                <a:solidFill>
                  <a:srgbClr val="1E242B"/>
                </a:solidFill>
                <a:latin typeface="Segoe UI"/>
              </a:rPr>
              <a:t>Reflex loop</a:t>
            </a:r>
            <a:r>
              <a:rPr lang="en-US" sz="1500" b="0" i="0" dirty="0">
                <a:solidFill>
                  <a:srgbClr val="1E242B"/>
                </a:solidFill>
                <a:latin typeface="Segoe UI"/>
              </a:rPr>
              <a:t>: real-time scheduling (SCHED_FIFO) and a performance CPU governor, so a busy machine cannot delay it. Its own compute was never the problem — under 0.1 </a:t>
            </a:r>
            <a:r>
              <a:rPr lang="en-US" sz="1500" b="0" i="0" dirty="0" err="1">
                <a:solidFill>
                  <a:srgbClr val="1E242B"/>
                </a:solidFill>
                <a:latin typeface="Segoe UI"/>
              </a:rPr>
              <a:t>ms</a:t>
            </a:r>
            <a:endParaRPr lang="en-US" sz="1500" b="0" i="0" dirty="0">
              <a:solidFill>
                <a:srgbClr val="1E242B"/>
              </a:solidFill>
              <a:latin typeface="Segoe UI"/>
            </a:endParaRPr>
          </a:p>
        </p:txBody>
      </p:sp>
      <p:sp>
        <p:nvSpPr>
          <p:cNvPr id="4" name="Rectangle 3"/>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58368" y="1371600"/>
            <a:ext cx="10874959" cy="457200"/>
          </a:xfrm>
          <a:prstGeom prst="rect">
            <a:avLst/>
          </a:prstGeom>
          <a:noFill/>
        </p:spPr>
        <p:txBody>
          <a:bodyPr wrap="square">
            <a:spAutoFit/>
          </a:bodyPr>
          <a:lstStyle/>
          <a:p>
            <a:r>
              <a:rPr sz="1400" b="0" i="1" dirty="0">
                <a:solidFill>
                  <a:srgbClr val="6B727B"/>
                </a:solidFill>
                <a:latin typeface="Segoe UI"/>
              </a:rPr>
              <a:t>The wins came from removing our own overhead and letting each tier meet its own deadline — not from a faster runtime.</a:t>
            </a:r>
          </a:p>
        </p:txBody>
      </p:sp>
      <p:sp>
        <p:nvSpPr>
          <p:cNvPr id="6" name="TextBox 5"/>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7" name="TextBox 6"/>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FB802-38A2-F07B-54CB-EBCF024D0E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CA8790-A2BD-2F36-1285-988F23783599}"/>
              </a:ext>
            </a:extLst>
          </p:cNvPr>
          <p:cNvSpPr>
            <a:spLocks noGrp="1"/>
          </p:cNvSpPr>
          <p:nvPr>
            <p:ph type="title"/>
          </p:nvPr>
        </p:nvSpPr>
        <p:spPr>
          <a:xfrm>
            <a:off x="658368" y="457200"/>
            <a:ext cx="10874959" cy="868680"/>
          </a:xfrm>
        </p:spPr>
        <p:txBody>
          <a:bodyPr wrap="square"/>
          <a:lstStyle/>
          <a:p>
            <a:pPr algn="l"/>
            <a:r>
              <a:rPr sz="3000" b="1" i="0" dirty="0">
                <a:solidFill>
                  <a:srgbClr val="1E242B"/>
                </a:solidFill>
                <a:latin typeface="Segoe UI"/>
              </a:rPr>
              <a:t>What we changed</a:t>
            </a:r>
          </a:p>
        </p:txBody>
      </p:sp>
      <p:sp>
        <p:nvSpPr>
          <p:cNvPr id="3" name="Content Placeholder 2">
            <a:extLst>
              <a:ext uri="{FF2B5EF4-FFF2-40B4-BE49-F238E27FC236}">
                <a16:creationId xmlns:a16="http://schemas.microsoft.com/office/drawing/2014/main" id="{5DE6C640-5D44-C199-6471-E0E2B876F949}"/>
              </a:ext>
            </a:extLst>
          </p:cNvPr>
          <p:cNvSpPr>
            <a:spLocks noGrp="1"/>
          </p:cNvSpPr>
          <p:nvPr>
            <p:ph idx="1"/>
          </p:nvPr>
        </p:nvSpPr>
        <p:spPr>
          <a:xfrm>
            <a:off x="658368" y="2057400"/>
            <a:ext cx="10874959" cy="4023360"/>
          </a:xfrm>
        </p:spPr>
        <p:txBody>
          <a:bodyPr wrap="square">
            <a:normAutofit lnSpcReduction="10000"/>
          </a:bodyPr>
          <a:lstStyle/>
          <a:p>
            <a:pPr>
              <a:spcAft>
                <a:spcPts val="1300"/>
              </a:spcAft>
            </a:pPr>
            <a:r>
              <a:rPr lang="en-US" sz="1500" b="0" i="0" dirty="0">
                <a:solidFill>
                  <a:srgbClr val="1E242B"/>
                </a:solidFill>
                <a:latin typeface="Segoe UI"/>
              </a:rPr>
              <a:t>Split the work by how tight a deadline each loop can guarantee, not by what it is allowed to do. </a:t>
            </a:r>
          </a:p>
          <a:p>
            <a:pPr lvl="1">
              <a:spcAft>
                <a:spcPts val="1300"/>
              </a:spcAft>
            </a:pPr>
            <a:r>
              <a:rPr lang="en-US" sz="1100" b="1" i="0" dirty="0">
                <a:solidFill>
                  <a:srgbClr val="1E242B"/>
                </a:solidFill>
                <a:latin typeface="Segoe UI"/>
              </a:rPr>
              <a:t>The ROI detector on the stim camera holds a millisecond deadline</a:t>
            </a:r>
          </a:p>
          <a:p>
            <a:pPr lvl="1">
              <a:spcAft>
                <a:spcPts val="1300"/>
              </a:spcAft>
            </a:pPr>
            <a:r>
              <a:rPr lang="en-US" sz="1100" b="1" i="0" dirty="0">
                <a:solidFill>
                  <a:srgbClr val="1E242B"/>
                </a:solidFill>
                <a:latin typeface="Segoe UI"/>
              </a:rPr>
              <a:t>The pose stream drives hardware too, bounded timewise by end-to-end inference speed</a:t>
            </a:r>
          </a:p>
          <a:p>
            <a:pPr>
              <a:spcAft>
                <a:spcPts val="1300"/>
              </a:spcAft>
            </a:pPr>
            <a:r>
              <a:rPr lang="en-US" sz="1500" b="1" dirty="0">
                <a:solidFill>
                  <a:srgbClr val="1E242B"/>
                </a:solidFill>
                <a:latin typeface="Segoe UI"/>
              </a:rPr>
              <a:t>Pose stream</a:t>
            </a:r>
            <a:r>
              <a:rPr lang="en-US" sz="1500" dirty="0">
                <a:solidFill>
                  <a:srgbClr val="1E242B"/>
                </a:solidFill>
                <a:latin typeface="Segoe UI"/>
              </a:rPr>
              <a:t>: moved off </a:t>
            </a:r>
            <a:r>
              <a:rPr lang="en-US" sz="1500" dirty="0" err="1">
                <a:solidFill>
                  <a:srgbClr val="1E242B"/>
                </a:solidFill>
                <a:latin typeface="Segoe UI"/>
              </a:rPr>
              <a:t>DeepLabCut's</a:t>
            </a:r>
            <a:r>
              <a:rPr lang="en-US" sz="1500" dirty="0">
                <a:solidFill>
                  <a:srgbClr val="1E242B"/>
                </a:solidFill>
                <a:latin typeface="Segoe UI"/>
              </a:rPr>
              <a:t> TensorFlow path onto the </a:t>
            </a:r>
            <a:r>
              <a:rPr lang="en-US" sz="1500" dirty="0" err="1">
                <a:solidFill>
                  <a:srgbClr val="1E242B"/>
                </a:solidFill>
                <a:latin typeface="Segoe UI"/>
              </a:rPr>
              <a:t>PyTorch</a:t>
            </a:r>
            <a:r>
              <a:rPr lang="en-US" sz="1500" dirty="0">
                <a:solidFill>
                  <a:srgbClr val="1E242B"/>
                </a:solidFill>
                <a:latin typeface="Segoe UI"/>
              </a:rPr>
              <a:t> engine. It is what makes everything below possible</a:t>
            </a:r>
          </a:p>
          <a:p>
            <a:pPr>
              <a:spcAft>
                <a:spcPts val="1300"/>
              </a:spcAft>
            </a:pPr>
            <a:r>
              <a:rPr lang="en-US" sz="1500" dirty="0">
                <a:solidFill>
                  <a:srgbClr val="1E242B"/>
                </a:solidFill>
                <a:latin typeface="Segoe UI"/>
              </a:rPr>
              <a:t>Gave the reflex loop real-time scheduling (SCHED_FIFO) and a performance CPU governor, so a busy machine cannot delay it</a:t>
            </a:r>
          </a:p>
          <a:p>
            <a:pPr>
              <a:spcAft>
                <a:spcPts val="1300"/>
              </a:spcAft>
            </a:pPr>
            <a:r>
              <a:rPr lang="en-US" sz="1500" dirty="0">
                <a:solidFill>
                  <a:srgbClr val="1E242B"/>
                </a:solidFill>
                <a:latin typeface="Segoe UI"/>
              </a:rPr>
              <a:t>Stopped padding the inference batch — run the 2 real frames instead of a padded 6 — and rewrote the CPU decode to use argmax and </a:t>
            </a:r>
            <a:r>
              <a:rPr lang="en-US" sz="1500" dirty="0" err="1">
                <a:solidFill>
                  <a:srgbClr val="1E242B"/>
                </a:solidFill>
                <a:latin typeface="Segoe UI"/>
              </a:rPr>
              <a:t>numpy</a:t>
            </a:r>
            <a:r>
              <a:rPr lang="en-US" sz="1500" dirty="0">
                <a:solidFill>
                  <a:srgbClr val="1E242B"/>
                </a:solidFill>
                <a:latin typeface="Segoe UI"/>
              </a:rPr>
              <a:t> instead of a sort and pandas</a:t>
            </a:r>
          </a:p>
          <a:p>
            <a:pPr>
              <a:spcAft>
                <a:spcPts val="1300"/>
              </a:spcAft>
            </a:pPr>
            <a:r>
              <a:rPr lang="en-US" sz="1500" dirty="0">
                <a:solidFill>
                  <a:srgbClr val="1E242B"/>
                </a:solidFill>
                <a:latin typeface="Segoe UI"/>
              </a:rPr>
              <a:t>Captured the CUDA graph for the live batch and replayed it, instead of re-submitting the same work every call</a:t>
            </a:r>
          </a:p>
          <a:p>
            <a:pPr>
              <a:spcAft>
                <a:spcPts val="1300"/>
              </a:spcAft>
            </a:pPr>
            <a:r>
              <a:rPr lang="en-US" sz="1500" dirty="0">
                <a:solidFill>
                  <a:srgbClr val="1E242B"/>
                </a:solidFill>
                <a:latin typeface="Segoe UI"/>
              </a:rPr>
              <a:t>Made the pose stage unable to hurt acquisition: it takes frames on a separate non-blocking queue, always takes the newest and drops stale ones, so latency never grows into a backlog</a:t>
            </a:r>
          </a:p>
        </p:txBody>
      </p:sp>
      <p:sp>
        <p:nvSpPr>
          <p:cNvPr id="4" name="Rectangle 3">
            <a:extLst>
              <a:ext uri="{FF2B5EF4-FFF2-40B4-BE49-F238E27FC236}">
                <a16:creationId xmlns:a16="http://schemas.microsoft.com/office/drawing/2014/main" id="{7F5C2B88-554B-24AF-4A86-4BA878CFF01C}"/>
              </a:ext>
            </a:extLst>
          </p:cNvPr>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AE4D265A-BD12-FA44-E8C5-805B218164E1}"/>
              </a:ext>
            </a:extLst>
          </p:cNvPr>
          <p:cNvSpPr txBox="1"/>
          <p:nvPr/>
        </p:nvSpPr>
        <p:spPr>
          <a:xfrm>
            <a:off x="658368" y="1371600"/>
            <a:ext cx="10874959" cy="457200"/>
          </a:xfrm>
          <a:prstGeom prst="rect">
            <a:avLst/>
          </a:prstGeom>
          <a:noFill/>
        </p:spPr>
        <p:txBody>
          <a:bodyPr wrap="square">
            <a:spAutoFit/>
          </a:bodyPr>
          <a:lstStyle/>
          <a:p>
            <a:r>
              <a:rPr sz="1400" b="0" i="1" dirty="0">
                <a:solidFill>
                  <a:srgbClr val="6B727B"/>
                </a:solidFill>
                <a:latin typeface="Segoe UI"/>
              </a:rPr>
              <a:t>The wins came from removing our own overhead and letting each tier meet its own deadline — not from a faster runtime.</a:t>
            </a:r>
          </a:p>
        </p:txBody>
      </p:sp>
      <p:sp>
        <p:nvSpPr>
          <p:cNvPr id="6" name="TextBox 5">
            <a:extLst>
              <a:ext uri="{FF2B5EF4-FFF2-40B4-BE49-F238E27FC236}">
                <a16:creationId xmlns:a16="http://schemas.microsoft.com/office/drawing/2014/main" id="{449ECFE3-EA46-9E03-A2D1-F916A4C24E08}"/>
              </a:ext>
            </a:extLst>
          </p:cNvPr>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7" name="TextBox 6">
            <a:extLst>
              <a:ext uri="{FF2B5EF4-FFF2-40B4-BE49-F238E27FC236}">
                <a16:creationId xmlns:a16="http://schemas.microsoft.com/office/drawing/2014/main" id="{FF8A8F00-3549-F9AD-3D18-1CE800E77814}"/>
              </a:ext>
            </a:extLst>
          </p:cNvPr>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5</a:t>
            </a:r>
          </a:p>
        </p:txBody>
      </p:sp>
    </p:spTree>
    <p:extLst>
      <p:ext uri="{BB962C8B-B14F-4D97-AF65-F5344CB8AC3E}">
        <p14:creationId xmlns:p14="http://schemas.microsoft.com/office/powerpoint/2010/main" val="18101928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What it measured</a:t>
            </a:r>
          </a:p>
        </p:txBody>
      </p:sp>
      <p:sp>
        <p:nvSpPr>
          <p:cNvPr id="3" name="Rectangle 2"/>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Same rig, same load, before and after each change.</a:t>
            </a:r>
          </a:p>
        </p:txBody>
      </p:sp>
      <p:pic>
        <p:nvPicPr>
          <p:cNvPr id="5" name="Picture 4" descr="measurements.png"/>
          <p:cNvPicPr>
            <a:picLocks noChangeAspect="1"/>
          </p:cNvPicPr>
          <p:nvPr/>
        </p:nvPicPr>
        <p:blipFill>
          <a:blip r:embed="rId3"/>
          <a:stretch>
            <a:fillRect/>
          </a:stretch>
        </p:blipFill>
        <p:spPr>
          <a:xfrm>
            <a:off x="975777" y="1847088"/>
            <a:ext cx="10240140" cy="3822192"/>
          </a:xfrm>
          <a:prstGeom prst="rect">
            <a:avLst/>
          </a:prstGeom>
        </p:spPr>
      </p:pic>
      <p:sp>
        <p:nvSpPr>
          <p:cNvPr id="6" name="TextBox 5"/>
          <p:cNvSpPr txBox="1"/>
          <p:nvPr/>
        </p:nvSpPr>
        <p:spPr>
          <a:xfrm>
            <a:off x="658368" y="5797296"/>
            <a:ext cx="10874959" cy="269304"/>
          </a:xfrm>
          <a:prstGeom prst="rect">
            <a:avLst/>
          </a:prstGeom>
          <a:noFill/>
        </p:spPr>
        <p:txBody>
          <a:bodyPr wrap="square">
            <a:spAutoFit/>
          </a:bodyPr>
          <a:lstStyle/>
          <a:p>
            <a:pPr algn="ctr"/>
            <a:r>
              <a:rPr sz="1150" b="0" i="1" dirty="0">
                <a:solidFill>
                  <a:srgbClr val="6B727B"/>
                </a:solidFill>
                <a:latin typeface="Segoe UI"/>
              </a:rPr>
              <a:t>Measured on an NVIDIA T1000 — a low-end Turing card with no tensor cores, which is why a tensor-core GPU would shift several of these numbers.</a:t>
            </a:r>
          </a:p>
        </p:txBody>
      </p:sp>
      <p:sp>
        <p:nvSpPr>
          <p:cNvPr id="7" name="TextBox 6"/>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8" name="TextBox 7"/>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Pick the model that fits the experiment</a:t>
            </a:r>
          </a:p>
        </p:txBody>
      </p:sp>
      <p:sp>
        <p:nvSpPr>
          <p:cNvPr id="3" name="Content Placeholder 2"/>
          <p:cNvSpPr>
            <a:spLocks noGrp="1"/>
          </p:cNvSpPr>
          <p:nvPr>
            <p:ph sz="half" idx="1"/>
          </p:nvPr>
        </p:nvSpPr>
        <p:spPr>
          <a:xfrm>
            <a:off x="658368" y="2487168"/>
            <a:ext cx="5186019" cy="3593592"/>
          </a:xfrm>
        </p:spPr>
        <p:txBody>
          <a:bodyPr wrap="square"/>
          <a:lstStyle/>
          <a:p>
            <a:pPr>
              <a:spcAft>
                <a:spcPts val="1100"/>
              </a:spcAft>
            </a:pPr>
            <a:r>
              <a:rPr sz="1350" b="0" i="0" dirty="0">
                <a:solidFill>
                  <a:srgbClr val="1E242B"/>
                </a:solidFill>
                <a:latin typeface="Segoe UI"/>
              </a:rPr>
              <a:t>YOLO — the current default, and the one the CUDA-graph path accelerates</a:t>
            </a:r>
          </a:p>
          <a:p>
            <a:pPr>
              <a:spcAft>
                <a:spcPts val="1100"/>
              </a:spcAft>
            </a:pPr>
            <a:r>
              <a:rPr sz="1350" b="0" i="0" dirty="0" err="1">
                <a:solidFill>
                  <a:srgbClr val="1E242B"/>
                </a:solidFill>
                <a:latin typeface="Segoe UI"/>
              </a:rPr>
              <a:t>cspnext</a:t>
            </a:r>
            <a:r>
              <a:rPr sz="1350" b="0" i="0" dirty="0">
                <a:solidFill>
                  <a:srgbClr val="1E242B"/>
                </a:solidFill>
                <a:latin typeface="Segoe UI"/>
              </a:rPr>
              <a:t> and </a:t>
            </a:r>
            <a:r>
              <a:rPr sz="1350" b="0" i="0" dirty="0" err="1">
                <a:solidFill>
                  <a:srgbClr val="1E242B"/>
                </a:solidFill>
                <a:latin typeface="Segoe UI"/>
              </a:rPr>
              <a:t>rtmpose</a:t>
            </a:r>
            <a:r>
              <a:rPr sz="1350" b="0" i="0" dirty="0">
                <a:solidFill>
                  <a:srgbClr val="1E242B"/>
                </a:solidFill>
                <a:latin typeface="Segoe UI"/>
              </a:rPr>
              <a:t> — top-down pose families with measured confidence thresholds </a:t>
            </a:r>
            <a:endParaRPr lang="en-US" sz="1350" b="0" i="0" dirty="0">
              <a:solidFill>
                <a:srgbClr val="1E242B"/>
              </a:solidFill>
              <a:latin typeface="Segoe UI"/>
            </a:endParaRPr>
          </a:p>
          <a:p>
            <a:pPr>
              <a:spcAft>
                <a:spcPts val="1100"/>
              </a:spcAft>
            </a:pPr>
            <a:r>
              <a:rPr sz="1350" b="0" i="0" dirty="0" err="1">
                <a:solidFill>
                  <a:srgbClr val="1E242B"/>
                </a:solidFill>
                <a:latin typeface="Segoe UI"/>
              </a:rPr>
              <a:t>DeepLabCut</a:t>
            </a:r>
            <a:r>
              <a:rPr sz="1350" b="0" i="0" dirty="0">
                <a:solidFill>
                  <a:srgbClr val="1E242B"/>
                </a:solidFill>
                <a:latin typeface="Segoe UI"/>
              </a:rPr>
              <a:t> ResNet-50 — the accuracy reference, and where this started</a:t>
            </a:r>
          </a:p>
        </p:txBody>
      </p:sp>
      <p:sp>
        <p:nvSpPr>
          <p:cNvPr id="4" name="Content Placeholder 3"/>
          <p:cNvSpPr>
            <a:spLocks noGrp="1"/>
          </p:cNvSpPr>
          <p:nvPr>
            <p:ph sz="half" idx="2"/>
          </p:nvPr>
        </p:nvSpPr>
        <p:spPr>
          <a:xfrm>
            <a:off x="6347307" y="2487168"/>
            <a:ext cx="5186019" cy="3593592"/>
          </a:xfrm>
        </p:spPr>
        <p:txBody>
          <a:bodyPr wrap="square"/>
          <a:lstStyle/>
          <a:p>
            <a:pPr>
              <a:spcAft>
                <a:spcPts val="1100"/>
              </a:spcAft>
            </a:pPr>
            <a:r>
              <a:rPr sz="1350" b="0" i="0" dirty="0">
                <a:solidFill>
                  <a:srgbClr val="1E242B"/>
                </a:solidFill>
                <a:latin typeface="Segoe UI"/>
              </a:rPr>
              <a:t>Faster backbones hold camera rate: </a:t>
            </a:r>
            <a:r>
              <a:rPr sz="1350" b="0" i="0" dirty="0" err="1">
                <a:solidFill>
                  <a:srgbClr val="1E242B"/>
                </a:solidFill>
                <a:latin typeface="Segoe UI"/>
              </a:rPr>
              <a:t>cspnext_s</a:t>
            </a:r>
            <a:r>
              <a:rPr sz="1350" b="0" i="0" dirty="0">
                <a:solidFill>
                  <a:srgbClr val="1E242B"/>
                </a:solidFill>
                <a:latin typeface="Segoe UI"/>
              </a:rPr>
              <a:t> sustains 150 fps at 7.66 </a:t>
            </a:r>
            <a:r>
              <a:rPr sz="1350" b="0" i="0" dirty="0" err="1">
                <a:solidFill>
                  <a:srgbClr val="1E242B"/>
                </a:solidFill>
                <a:latin typeface="Segoe UI"/>
              </a:rPr>
              <a:t>ms</a:t>
            </a:r>
            <a:r>
              <a:rPr sz="1350" b="0" i="0" dirty="0">
                <a:solidFill>
                  <a:srgbClr val="1E242B"/>
                </a:solidFill>
                <a:latin typeface="Segoe UI"/>
              </a:rPr>
              <a:t> sensor-to-pose; </a:t>
            </a:r>
            <a:r>
              <a:rPr sz="1350" b="0" i="0" dirty="0" err="1">
                <a:solidFill>
                  <a:srgbClr val="1E242B"/>
                </a:solidFill>
                <a:latin typeface="Segoe UI"/>
              </a:rPr>
              <a:t>cspnext_m</a:t>
            </a:r>
            <a:r>
              <a:rPr sz="1350" b="0" i="0" dirty="0">
                <a:solidFill>
                  <a:srgbClr val="1E242B"/>
                </a:solidFill>
                <a:latin typeface="Segoe UI"/>
              </a:rPr>
              <a:t> runs near 103 fps</a:t>
            </a:r>
            <a:r>
              <a:rPr lang="en-US" sz="1350" b="0" i="0" dirty="0">
                <a:solidFill>
                  <a:srgbClr val="1E242B"/>
                </a:solidFill>
                <a:latin typeface="Segoe UI"/>
              </a:rPr>
              <a:t>; custom YOLO11n runs ~5ms</a:t>
            </a:r>
            <a:endParaRPr sz="1350" b="0" i="0" dirty="0">
              <a:solidFill>
                <a:srgbClr val="1E242B"/>
              </a:solidFill>
              <a:latin typeface="Segoe UI"/>
            </a:endParaRPr>
          </a:p>
          <a:p>
            <a:pPr>
              <a:spcAft>
                <a:spcPts val="1100"/>
              </a:spcAft>
            </a:pPr>
            <a:r>
              <a:rPr sz="1350" b="0" i="0" dirty="0">
                <a:solidFill>
                  <a:srgbClr val="1E242B"/>
                </a:solidFill>
                <a:latin typeface="Segoe UI"/>
              </a:rPr>
              <a:t>ResNet-50 runs below camera rate on this GPU — fine for a behavior stream, not for closing a loop</a:t>
            </a:r>
          </a:p>
          <a:p>
            <a:pPr>
              <a:spcAft>
                <a:spcPts val="1100"/>
              </a:spcAft>
            </a:pPr>
            <a:r>
              <a:rPr sz="1350" b="0" i="0" dirty="0">
                <a:solidFill>
                  <a:srgbClr val="1E242B"/>
                </a:solidFill>
                <a:latin typeface="Segoe UI"/>
              </a:rPr>
              <a:t>Confidence does not mean the same thing across </a:t>
            </a:r>
            <a:r>
              <a:rPr lang="en-US" sz="1350" b="0" i="0" dirty="0">
                <a:solidFill>
                  <a:srgbClr val="1E242B"/>
                </a:solidFill>
                <a:latin typeface="Segoe UI"/>
              </a:rPr>
              <a:t>model </a:t>
            </a:r>
            <a:r>
              <a:rPr sz="1350" b="0" i="0" dirty="0">
                <a:solidFill>
                  <a:srgbClr val="1E242B"/>
                </a:solidFill>
                <a:latin typeface="Segoe UI"/>
              </a:rPr>
              <a:t>families, so the gat</a:t>
            </a:r>
            <a:r>
              <a:rPr lang="en-US" sz="1350" dirty="0">
                <a:solidFill>
                  <a:srgbClr val="1E242B"/>
                </a:solidFill>
                <a:latin typeface="Segoe UI"/>
              </a:rPr>
              <a:t>ing</a:t>
            </a:r>
            <a:r>
              <a:rPr sz="1350" b="0" i="0" dirty="0">
                <a:solidFill>
                  <a:srgbClr val="1E242B"/>
                </a:solidFill>
                <a:latin typeface="Segoe UI"/>
              </a:rPr>
              <a:t> threshold is measured per backbone rather than set globally</a:t>
            </a:r>
          </a:p>
        </p:txBody>
      </p:sp>
      <p:sp>
        <p:nvSpPr>
          <p:cNvPr id="5" name="Rectangle 4"/>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The backend takes several model families. Speed and accuracy trade against each other, and the choice is yours per use case.</a:t>
            </a:r>
          </a:p>
        </p:txBody>
      </p:sp>
      <p:sp>
        <p:nvSpPr>
          <p:cNvPr id="7" name="TextBox 6"/>
          <p:cNvSpPr txBox="1"/>
          <p:nvPr/>
        </p:nvSpPr>
        <p:spPr>
          <a:xfrm>
            <a:off x="658368" y="2103120"/>
            <a:ext cx="5186019" cy="347472"/>
          </a:xfrm>
          <a:prstGeom prst="rect">
            <a:avLst/>
          </a:prstGeom>
          <a:noFill/>
        </p:spPr>
        <p:txBody>
          <a:bodyPr wrap="none">
            <a:spAutoFit/>
          </a:bodyPr>
          <a:lstStyle/>
          <a:p>
            <a:r>
              <a:rPr sz="1500" b="1" i="0">
                <a:solidFill>
                  <a:srgbClr val="6B7F9E"/>
                </a:solidFill>
                <a:latin typeface="Segoe UI"/>
              </a:rPr>
              <a:t>What you get to choose</a:t>
            </a:r>
          </a:p>
        </p:txBody>
      </p:sp>
      <p:sp>
        <p:nvSpPr>
          <p:cNvPr id="8" name="TextBox 7"/>
          <p:cNvSpPr txBox="1"/>
          <p:nvPr/>
        </p:nvSpPr>
        <p:spPr>
          <a:xfrm>
            <a:off x="6347307" y="2103120"/>
            <a:ext cx="5186019" cy="347472"/>
          </a:xfrm>
          <a:prstGeom prst="rect">
            <a:avLst/>
          </a:prstGeom>
          <a:noFill/>
        </p:spPr>
        <p:txBody>
          <a:bodyPr wrap="none">
            <a:spAutoFit/>
          </a:bodyPr>
          <a:lstStyle/>
          <a:p>
            <a:r>
              <a:rPr sz="1500" b="1" i="0">
                <a:solidFill>
                  <a:srgbClr val="B3593F"/>
                </a:solidFill>
                <a:latin typeface="Segoe UI"/>
              </a:rPr>
              <a:t>What the choice costs</a:t>
            </a:r>
          </a:p>
        </p:txBody>
      </p:sp>
      <p:sp>
        <p:nvSpPr>
          <p:cNvPr id="9" name="TextBox 8"/>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10" name="TextBox 9"/>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What this buys, and what it costs</a:t>
            </a:r>
          </a:p>
        </p:txBody>
      </p:sp>
      <p:sp>
        <p:nvSpPr>
          <p:cNvPr id="3" name="Content Placeholder 2"/>
          <p:cNvSpPr>
            <a:spLocks noGrp="1"/>
          </p:cNvSpPr>
          <p:nvPr>
            <p:ph sz="half" idx="1"/>
          </p:nvPr>
        </p:nvSpPr>
        <p:spPr>
          <a:xfrm>
            <a:off x="658368" y="2487168"/>
            <a:ext cx="5186019" cy="3593592"/>
          </a:xfrm>
        </p:spPr>
        <p:txBody>
          <a:bodyPr wrap="square"/>
          <a:lstStyle/>
          <a:p>
            <a:pPr>
              <a:spcAft>
                <a:spcPts val="1100"/>
              </a:spcAft>
            </a:pPr>
            <a:r>
              <a:rPr sz="1350" b="0" i="0" dirty="0">
                <a:solidFill>
                  <a:srgbClr val="1E242B"/>
                </a:solidFill>
                <a:latin typeface="Segoe UI"/>
              </a:rPr>
              <a:t>A second closed loop driven by machine vision, alongside the fast ROI reflex — decisions can now depend on where the paw actually is</a:t>
            </a:r>
            <a:r>
              <a:rPr lang="en-US" sz="1350" b="0" i="0" dirty="0">
                <a:solidFill>
                  <a:srgbClr val="1E242B"/>
                </a:solidFill>
                <a:latin typeface="Segoe UI"/>
              </a:rPr>
              <a:t>, stage of reach, or other behaviors.</a:t>
            </a:r>
            <a:endParaRPr sz="1350" b="0" i="0" dirty="0">
              <a:solidFill>
                <a:srgbClr val="1E242B"/>
              </a:solidFill>
              <a:latin typeface="Segoe UI"/>
            </a:endParaRPr>
          </a:p>
          <a:p>
            <a:pPr>
              <a:spcAft>
                <a:spcPts val="1100"/>
              </a:spcAft>
            </a:pPr>
            <a:r>
              <a:rPr sz="1350" b="0" i="0" dirty="0">
                <a:solidFill>
                  <a:srgbClr val="1E242B"/>
                </a:solidFill>
                <a:latin typeface="Segoe UI"/>
              </a:rPr>
              <a:t>A live 2D pose overlay per camera view while the session runs</a:t>
            </a:r>
          </a:p>
          <a:p>
            <a:pPr>
              <a:spcAft>
                <a:spcPts val="1100"/>
              </a:spcAft>
            </a:pPr>
            <a:r>
              <a:rPr sz="1350" b="0" i="0" dirty="0">
                <a:solidFill>
                  <a:srgbClr val="1E242B"/>
                </a:solidFill>
                <a:latin typeface="Segoe UI"/>
              </a:rPr>
              <a:t>Signals visuali</a:t>
            </a:r>
            <a:r>
              <a:rPr lang="en-US" sz="1350" b="0" i="0" dirty="0">
                <a:solidFill>
                  <a:srgbClr val="1E242B"/>
                </a:solidFill>
                <a:latin typeface="Segoe UI"/>
              </a:rPr>
              <a:t>z</a:t>
            </a:r>
            <a:r>
              <a:rPr sz="1350" b="0" i="0" dirty="0">
                <a:solidFill>
                  <a:srgbClr val="1E242B"/>
                </a:solidFill>
                <a:latin typeface="Segoe UI"/>
              </a:rPr>
              <a:t>ed during acquisition instead of plotted afterwards</a:t>
            </a:r>
          </a:p>
          <a:p>
            <a:pPr>
              <a:spcAft>
                <a:spcPts val="1100"/>
              </a:spcAft>
            </a:pPr>
            <a:r>
              <a:rPr sz="1350" b="0" i="0" dirty="0">
                <a:solidFill>
                  <a:srgbClr val="1E242B"/>
                </a:solidFill>
                <a:latin typeface="Segoe UI"/>
              </a:rPr>
              <a:t>Experiments composed from reusable trial sets, with reproducible draws</a:t>
            </a:r>
            <a:endParaRPr lang="en-US" sz="1350" dirty="0">
              <a:solidFill>
                <a:srgbClr val="1E242B"/>
              </a:solidFill>
              <a:latin typeface="Segoe UI"/>
            </a:endParaRPr>
          </a:p>
          <a:p>
            <a:pPr>
              <a:spcAft>
                <a:spcPts val="1100"/>
              </a:spcAft>
            </a:pPr>
            <a:r>
              <a:rPr lang="en-US" sz="1350" dirty="0">
                <a:solidFill>
                  <a:srgbClr val="1E242B"/>
                </a:solidFill>
                <a:latin typeface="Segoe UI"/>
              </a:rPr>
              <a:t>Settings and options are highly configurable</a:t>
            </a:r>
            <a:endParaRPr sz="1350" b="0" i="0" dirty="0">
              <a:solidFill>
                <a:srgbClr val="1E242B"/>
              </a:solidFill>
              <a:latin typeface="Segoe UI"/>
            </a:endParaRPr>
          </a:p>
        </p:txBody>
      </p:sp>
      <p:sp>
        <p:nvSpPr>
          <p:cNvPr id="4" name="Content Placeholder 3"/>
          <p:cNvSpPr>
            <a:spLocks noGrp="1"/>
          </p:cNvSpPr>
          <p:nvPr>
            <p:ph sz="half" idx="2"/>
          </p:nvPr>
        </p:nvSpPr>
        <p:spPr>
          <a:xfrm>
            <a:off x="6347307" y="2487168"/>
            <a:ext cx="5186019" cy="3593592"/>
          </a:xfrm>
        </p:spPr>
        <p:txBody>
          <a:bodyPr wrap="square"/>
          <a:lstStyle/>
          <a:p>
            <a:pPr>
              <a:spcAft>
                <a:spcPts val="1100"/>
              </a:spcAft>
            </a:pPr>
            <a:r>
              <a:rPr sz="1350" b="0" i="0" dirty="0">
                <a:solidFill>
                  <a:srgbClr val="1E242B"/>
                </a:solidFill>
                <a:latin typeface="Segoe UI"/>
              </a:rPr>
              <a:t>A working CUDA GPU. Live inference refuses to start without one, by design, rather than silently running slow</a:t>
            </a:r>
          </a:p>
          <a:p>
            <a:pPr>
              <a:spcAft>
                <a:spcPts val="1100"/>
              </a:spcAft>
            </a:pPr>
            <a:r>
              <a:rPr sz="1350" b="0" i="0" dirty="0">
                <a:solidFill>
                  <a:srgbClr val="1E242B"/>
                </a:solidFill>
                <a:latin typeface="Segoe UI"/>
              </a:rPr>
              <a:t>Two settings the installer applies: real-time scheduling for the reflex loop and the performance CPU governor</a:t>
            </a:r>
          </a:p>
          <a:p>
            <a:pPr>
              <a:spcAft>
                <a:spcPts val="1100"/>
              </a:spcAft>
            </a:pPr>
            <a:r>
              <a:rPr sz="1350" b="0" i="0" dirty="0">
                <a:solidFill>
                  <a:srgbClr val="1E242B"/>
                </a:solidFill>
                <a:latin typeface="Segoe UI"/>
              </a:rPr>
              <a:t>Calibration that matches the geometry the cameras actually record, or 3D is wrong beneath a correct-looking 2D overlay</a:t>
            </a:r>
          </a:p>
          <a:p>
            <a:pPr>
              <a:spcAft>
                <a:spcPts val="1100"/>
              </a:spcAft>
            </a:pPr>
            <a:r>
              <a:rPr sz="1350" b="0" i="0" dirty="0">
                <a:solidFill>
                  <a:srgbClr val="1E242B"/>
                </a:solidFill>
                <a:latin typeface="Segoe UI"/>
              </a:rPr>
              <a:t>Unfiltered signal recording costs disk — the FSR stream alone adds roughly 166 rows a second</a:t>
            </a:r>
            <a:br>
              <a:rPr lang="en-US" sz="1350" b="0" i="0" dirty="0">
                <a:solidFill>
                  <a:srgbClr val="1E242B"/>
                </a:solidFill>
                <a:latin typeface="Segoe UI"/>
              </a:rPr>
            </a:br>
            <a:br>
              <a:rPr lang="en-US" sz="1350" b="0" i="0" dirty="0">
                <a:solidFill>
                  <a:srgbClr val="1E242B"/>
                </a:solidFill>
                <a:latin typeface="Segoe UI"/>
              </a:rPr>
            </a:br>
            <a:br>
              <a:rPr lang="en-US" sz="1350" b="0" i="0" dirty="0">
                <a:solidFill>
                  <a:srgbClr val="1E242B"/>
                </a:solidFill>
                <a:latin typeface="Segoe UI"/>
              </a:rPr>
            </a:br>
            <a:r>
              <a:rPr lang="en-US" sz="1350" b="1" i="0" dirty="0">
                <a:solidFill>
                  <a:srgbClr val="1E242B"/>
                </a:solidFill>
                <a:latin typeface="Segoe UI"/>
              </a:rPr>
              <a:t>** more moving parts means easier to “fail” silently</a:t>
            </a:r>
            <a:endParaRPr sz="1350" b="1" i="0" dirty="0">
              <a:solidFill>
                <a:srgbClr val="1E242B"/>
              </a:solidFill>
              <a:latin typeface="Segoe UI"/>
            </a:endParaRPr>
          </a:p>
        </p:txBody>
      </p:sp>
      <p:sp>
        <p:nvSpPr>
          <p:cNvPr id="5" name="Rectangle 4"/>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1371600"/>
            <a:ext cx="10874959" cy="457200"/>
          </a:xfrm>
          <a:prstGeom prst="rect">
            <a:avLst/>
          </a:prstGeom>
          <a:noFill/>
        </p:spPr>
        <p:txBody>
          <a:bodyPr wrap="square">
            <a:spAutoFit/>
          </a:bodyPr>
          <a:lstStyle/>
          <a:p>
            <a:r>
              <a:rPr sz="1400" b="0" i="1">
                <a:solidFill>
                  <a:srgbClr val="6B727B"/>
                </a:solidFill>
                <a:latin typeface="Segoe UI"/>
              </a:rPr>
              <a:t>The speed work was not the point. This is what it enabled.</a:t>
            </a:r>
          </a:p>
        </p:txBody>
      </p:sp>
      <p:sp>
        <p:nvSpPr>
          <p:cNvPr id="7" name="TextBox 6"/>
          <p:cNvSpPr txBox="1"/>
          <p:nvPr/>
        </p:nvSpPr>
        <p:spPr>
          <a:xfrm>
            <a:off x="658368" y="2103120"/>
            <a:ext cx="5186019" cy="347472"/>
          </a:xfrm>
          <a:prstGeom prst="rect">
            <a:avLst/>
          </a:prstGeom>
          <a:noFill/>
        </p:spPr>
        <p:txBody>
          <a:bodyPr wrap="none">
            <a:spAutoFit/>
          </a:bodyPr>
          <a:lstStyle/>
          <a:p>
            <a:r>
              <a:rPr sz="1500" b="1" i="0">
                <a:solidFill>
                  <a:srgbClr val="6B7F9E"/>
                </a:solidFill>
                <a:latin typeface="Segoe UI"/>
              </a:rPr>
              <a:t>New abilities</a:t>
            </a:r>
          </a:p>
        </p:txBody>
      </p:sp>
      <p:sp>
        <p:nvSpPr>
          <p:cNvPr id="8" name="TextBox 7"/>
          <p:cNvSpPr txBox="1"/>
          <p:nvPr/>
        </p:nvSpPr>
        <p:spPr>
          <a:xfrm>
            <a:off x="6347307" y="2103120"/>
            <a:ext cx="5186019" cy="347472"/>
          </a:xfrm>
          <a:prstGeom prst="rect">
            <a:avLst/>
          </a:prstGeom>
          <a:noFill/>
        </p:spPr>
        <p:txBody>
          <a:bodyPr wrap="none">
            <a:spAutoFit/>
          </a:bodyPr>
          <a:lstStyle/>
          <a:p>
            <a:r>
              <a:rPr sz="1500" b="1" i="0">
                <a:solidFill>
                  <a:srgbClr val="B3593F"/>
                </a:solidFill>
                <a:latin typeface="Segoe UI"/>
              </a:rPr>
              <a:t>What it asks of you</a:t>
            </a:r>
          </a:p>
        </p:txBody>
      </p:sp>
      <p:sp>
        <p:nvSpPr>
          <p:cNvPr id="9" name="TextBox 8"/>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10" name="TextBox 9"/>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8</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Everything lands on one timebase</a:t>
            </a:r>
          </a:p>
        </p:txBody>
      </p:sp>
      <p:sp>
        <p:nvSpPr>
          <p:cNvPr id="3" name="Rectangle 2"/>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58368" y="1371600"/>
            <a:ext cx="10874959" cy="457200"/>
          </a:xfrm>
          <a:prstGeom prst="rect">
            <a:avLst/>
          </a:prstGeom>
          <a:noFill/>
        </p:spPr>
        <p:txBody>
          <a:bodyPr wrap="square">
            <a:spAutoFit/>
          </a:bodyPr>
          <a:lstStyle/>
          <a:p>
            <a:r>
              <a:rPr sz="1400" b="0" i="1" dirty="0">
                <a:solidFill>
                  <a:srgbClr val="6B727B"/>
                </a:solidFill>
                <a:latin typeface="Segoe UI"/>
              </a:rPr>
              <a:t>Cameras, tones, pellet events and laser output are not separately timestamped and hoped to agree.</a:t>
            </a:r>
          </a:p>
        </p:txBody>
      </p:sp>
      <p:pic>
        <p:nvPicPr>
          <p:cNvPr id="5" name="Picture 4" descr="synchronization.png"/>
          <p:cNvPicPr>
            <a:picLocks noChangeAspect="1"/>
          </p:cNvPicPr>
          <p:nvPr/>
        </p:nvPicPr>
        <p:blipFill>
          <a:blip r:embed="rId3"/>
          <a:stretch>
            <a:fillRect/>
          </a:stretch>
        </p:blipFill>
        <p:spPr>
          <a:xfrm>
            <a:off x="658368" y="1847088"/>
            <a:ext cx="10874959" cy="3663144"/>
          </a:xfrm>
          <a:prstGeom prst="rect">
            <a:avLst/>
          </a:prstGeom>
        </p:spPr>
      </p:pic>
      <p:sp>
        <p:nvSpPr>
          <p:cNvPr id="6" name="TextBox 5"/>
          <p:cNvSpPr txBox="1"/>
          <p:nvPr/>
        </p:nvSpPr>
        <p:spPr>
          <a:xfrm>
            <a:off x="658368" y="5638248"/>
            <a:ext cx="10874959" cy="502920"/>
          </a:xfrm>
          <a:prstGeom prst="rect">
            <a:avLst/>
          </a:prstGeom>
          <a:noFill/>
        </p:spPr>
        <p:txBody>
          <a:bodyPr wrap="square">
            <a:spAutoFit/>
          </a:bodyPr>
          <a:lstStyle/>
          <a:p>
            <a:pPr algn="ctr"/>
            <a:r>
              <a:rPr sz="1150" b="0" i="1">
                <a:solidFill>
                  <a:srgbClr val="6B727B"/>
                </a:solidFill>
                <a:latin typeface="Segoe UI"/>
              </a:rPr>
              <a:t>Camera frame edges are matched to NI-DAQ samples with a signed offset, a resolution, and a confidence — all written into alignment.json.</a:t>
            </a:r>
          </a:p>
        </p:txBody>
      </p:sp>
      <p:sp>
        <p:nvSpPr>
          <p:cNvPr id="7" name="TextBox 6"/>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8" name="TextBox 7"/>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a:solidFill>
                  <a:srgbClr val="1E242B"/>
                </a:solidFill>
                <a:latin typeface="Segoe UI"/>
              </a:rPr>
              <a:t>Signals you can watch while the session runs</a:t>
            </a:r>
          </a:p>
        </p:txBody>
      </p:sp>
      <p:sp>
        <p:nvSpPr>
          <p:cNvPr id="3" name="Content Placeholder 2"/>
          <p:cNvSpPr>
            <a:spLocks noGrp="1"/>
          </p:cNvSpPr>
          <p:nvPr>
            <p:ph idx="1"/>
          </p:nvPr>
        </p:nvSpPr>
        <p:spPr>
          <a:xfrm>
            <a:off x="658368" y="2057400"/>
            <a:ext cx="10874959" cy="4023360"/>
          </a:xfrm>
        </p:spPr>
        <p:txBody>
          <a:bodyPr wrap="square"/>
          <a:lstStyle/>
          <a:p>
            <a:pPr>
              <a:spcAft>
                <a:spcPts val="1300"/>
              </a:spcAft>
            </a:pPr>
            <a:r>
              <a:rPr sz="1500" b="0" i="0" dirty="0">
                <a:solidFill>
                  <a:srgbClr val="1E242B"/>
                </a:solidFill>
                <a:latin typeface="Segoe UI"/>
              </a:rPr>
              <a:t>Tones 1, 2 and 3 as logic traces, with the commanded onset checked against the pulse the DAQ actually saw</a:t>
            </a:r>
          </a:p>
          <a:p>
            <a:pPr>
              <a:spcAft>
                <a:spcPts val="1300"/>
              </a:spcAft>
            </a:pPr>
            <a:r>
              <a:rPr sz="1500" b="0" i="0" dirty="0">
                <a:solidFill>
                  <a:srgbClr val="1E242B"/>
                </a:solidFill>
                <a:latin typeface="Segoe UI"/>
              </a:rPr>
              <a:t>Laser analog command alongside the diode readback, so what was asked for and what came out are on the same axis</a:t>
            </a:r>
          </a:p>
          <a:p>
            <a:pPr>
              <a:spcAft>
                <a:spcPts val="1300"/>
              </a:spcAft>
            </a:pPr>
            <a:r>
              <a:rPr sz="1500" b="0" i="0" dirty="0">
                <a:solidFill>
                  <a:srgbClr val="1E242B"/>
                </a:solidFill>
                <a:latin typeface="Segoe UI"/>
              </a:rPr>
              <a:t>Camera frame pulses and the </a:t>
            </a:r>
            <a:r>
              <a:rPr lang="en-US" sz="1500" b="0" i="0" dirty="0">
                <a:solidFill>
                  <a:srgbClr val="1E242B"/>
                </a:solidFill>
                <a:latin typeface="Segoe UI"/>
              </a:rPr>
              <a:t>unique </a:t>
            </a:r>
            <a:r>
              <a:rPr sz="1500" b="0" i="0" dirty="0">
                <a:solidFill>
                  <a:srgbClr val="1E242B"/>
                </a:solidFill>
                <a:latin typeface="Segoe UI"/>
              </a:rPr>
              <a:t>barcode </a:t>
            </a:r>
            <a:r>
              <a:rPr lang="en-US" sz="1500" b="0" i="0" dirty="0">
                <a:solidFill>
                  <a:srgbClr val="1E242B"/>
                </a:solidFill>
                <a:latin typeface="Segoe UI"/>
              </a:rPr>
              <a:t>signal</a:t>
            </a:r>
            <a:r>
              <a:rPr sz="1500" b="0" i="0" dirty="0">
                <a:solidFill>
                  <a:srgbClr val="1E242B"/>
                </a:solidFill>
                <a:latin typeface="Segoe UI"/>
              </a:rPr>
              <a:t>, which </a:t>
            </a:r>
            <a:r>
              <a:rPr lang="en-US" sz="1500" dirty="0">
                <a:solidFill>
                  <a:srgbClr val="1E242B"/>
                </a:solidFill>
                <a:latin typeface="Segoe UI"/>
              </a:rPr>
              <a:t>ties acquisition data </a:t>
            </a:r>
            <a:r>
              <a:rPr sz="1500" b="0" i="0" dirty="0">
                <a:solidFill>
                  <a:srgbClr val="1E242B"/>
                </a:solidFill>
                <a:latin typeface="Segoe UI"/>
              </a:rPr>
              <a:t>to </a:t>
            </a:r>
            <a:r>
              <a:rPr lang="en-US" sz="1500" b="0" i="0" dirty="0">
                <a:solidFill>
                  <a:srgbClr val="1E242B"/>
                </a:solidFill>
                <a:latin typeface="Segoe UI"/>
              </a:rPr>
              <a:t>external </a:t>
            </a:r>
            <a:r>
              <a:rPr sz="1500" b="0" i="0" dirty="0">
                <a:solidFill>
                  <a:srgbClr val="1E242B"/>
                </a:solidFill>
                <a:latin typeface="Segoe UI"/>
              </a:rPr>
              <a:t>samples</a:t>
            </a:r>
            <a:r>
              <a:rPr lang="en-US" sz="1500" b="0" i="0" dirty="0">
                <a:solidFill>
                  <a:srgbClr val="1E242B"/>
                </a:solidFill>
                <a:latin typeface="Segoe UI"/>
              </a:rPr>
              <a:t> for alignment</a:t>
            </a:r>
            <a:endParaRPr sz="1500" b="0" i="0" dirty="0">
              <a:solidFill>
                <a:srgbClr val="1E242B"/>
              </a:solidFill>
              <a:latin typeface="Segoe UI"/>
            </a:endParaRPr>
          </a:p>
          <a:p>
            <a:pPr>
              <a:spcAft>
                <a:spcPts val="1300"/>
              </a:spcAft>
            </a:pPr>
            <a:r>
              <a:rPr sz="1500" b="0" i="0" dirty="0">
                <a:solidFill>
                  <a:srgbClr val="1E242B"/>
                </a:solidFill>
                <a:latin typeface="Segoe UI"/>
              </a:rPr>
              <a:t>Closed-loop state: what the pose gate answered, when the cue fired, and whether the trial was cancelled</a:t>
            </a:r>
          </a:p>
          <a:p>
            <a:pPr>
              <a:spcAft>
                <a:spcPts val="1300"/>
              </a:spcAft>
            </a:pPr>
            <a:r>
              <a:rPr lang="en-US" sz="1500" b="0" i="0" dirty="0">
                <a:solidFill>
                  <a:srgbClr val="1E242B"/>
                </a:solidFill>
                <a:latin typeface="Segoe UI"/>
              </a:rPr>
              <a:t>Tunnel FSR pressure — two sensors, on their own stream rather than mixed into the device log</a:t>
            </a:r>
          </a:p>
        </p:txBody>
      </p:sp>
      <p:sp>
        <p:nvSpPr>
          <p:cNvPr id="4" name="Rectangle 3"/>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7" name="TextBox 6"/>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lang="en-US" sz="3000" b="1" i="0" dirty="0">
                <a:solidFill>
                  <a:srgbClr val="1E242B"/>
                </a:solidFill>
                <a:latin typeface="Segoe UI"/>
              </a:rPr>
              <a:t> Build experiments from reusable blocks</a:t>
            </a:r>
          </a:p>
        </p:txBody>
      </p:sp>
      <p:sp>
        <p:nvSpPr>
          <p:cNvPr id="3" name="Content Placeholder 2"/>
          <p:cNvSpPr>
            <a:spLocks noGrp="1"/>
          </p:cNvSpPr>
          <p:nvPr>
            <p:ph idx="1"/>
          </p:nvPr>
        </p:nvSpPr>
        <p:spPr>
          <a:xfrm>
            <a:off x="601218" y="1587500"/>
            <a:ext cx="10874959" cy="4023360"/>
          </a:xfrm>
        </p:spPr>
        <p:txBody>
          <a:bodyPr wrap="square"/>
          <a:lstStyle/>
          <a:p>
            <a:pPr>
              <a:spcAft>
                <a:spcPts val="1300"/>
              </a:spcAft>
            </a:pPr>
            <a:r>
              <a:rPr lang="en-US" sz="1500" b="0" i="0" dirty="0">
                <a:solidFill>
                  <a:srgbClr val="1E242B"/>
                </a:solidFill>
                <a:latin typeface="Segoe UI"/>
              </a:rPr>
              <a:t>A trial set is a named group of trials you can drop into any experiment, instead of pasting the same block into every protocol</a:t>
            </a:r>
          </a:p>
          <a:p>
            <a:pPr>
              <a:spcAft>
                <a:spcPts val="1300"/>
              </a:spcAft>
            </a:pPr>
            <a:r>
              <a:rPr lang="en-US" sz="1500" b="0" i="0" dirty="0">
                <a:solidFill>
                  <a:srgbClr val="1E242B"/>
                </a:solidFill>
                <a:latin typeface="Segoe UI"/>
              </a:rPr>
              <a:t>Assemble an experiment by stacking sets in the order you want — repeat one several times, shuffle the trials inside each appearance, move entries up and down</a:t>
            </a:r>
          </a:p>
          <a:p>
            <a:pPr>
              <a:spcAft>
                <a:spcPts val="1300"/>
              </a:spcAft>
            </a:pPr>
            <a:r>
              <a:rPr lang="en-US" sz="1500" b="0" i="0" dirty="0">
                <a:solidFill>
                  <a:srgbClr val="1E242B"/>
                </a:solidFill>
                <a:latin typeface="Segoe UI"/>
              </a:rPr>
              <a:t>Nothing downstream changes. Every run is reproducible. </a:t>
            </a:r>
          </a:p>
          <a:p>
            <a:pPr>
              <a:spcAft>
                <a:spcPts val="1300"/>
              </a:spcAft>
            </a:pPr>
            <a:r>
              <a:rPr lang="en-US" sz="1500" b="0" i="0" dirty="0">
                <a:solidFill>
                  <a:srgbClr val="1E242B"/>
                </a:solidFill>
                <a:latin typeface="Segoe UI"/>
              </a:rPr>
              <a:t>Improve a shared set without breaking anything. An experiment holds the version it was built against, so editing a set never silently rewrites an experiment you already validated </a:t>
            </a:r>
          </a:p>
          <a:p>
            <a:pPr>
              <a:spcAft>
                <a:spcPts val="1300"/>
              </a:spcAft>
            </a:pPr>
            <a:r>
              <a:rPr lang="en-US" sz="1500" b="0" i="0" dirty="0">
                <a:solidFill>
                  <a:srgbClr val="1E242B"/>
                </a:solidFill>
                <a:latin typeface="Segoe UI"/>
              </a:rPr>
              <a:t>Trace all trials and settings in the session log</a:t>
            </a:r>
            <a:endParaRPr lang="en-US" sz="1500" dirty="0">
              <a:solidFill>
                <a:srgbClr val="1E242B"/>
              </a:solidFill>
              <a:latin typeface="Segoe UI"/>
            </a:endParaRPr>
          </a:p>
          <a:p>
            <a:pPr>
              <a:spcAft>
                <a:spcPts val="1300"/>
              </a:spcAft>
            </a:pPr>
            <a:r>
              <a:rPr lang="en-US" sz="1500" b="0" i="0" dirty="0">
                <a:solidFill>
                  <a:srgbClr val="1E242B"/>
                </a:solidFill>
                <a:latin typeface="Segoe UI"/>
              </a:rPr>
              <a:t>WIP</a:t>
            </a:r>
            <a:endParaRPr sz="1500" b="0" i="0" dirty="0">
              <a:solidFill>
                <a:srgbClr val="1E242B"/>
              </a:solidFill>
              <a:latin typeface="Segoe UI"/>
            </a:endParaRPr>
          </a:p>
        </p:txBody>
      </p:sp>
      <p:sp>
        <p:nvSpPr>
          <p:cNvPr id="4" name="Rectangle 3"/>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7" name="TextBox 6"/>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368" y="457200"/>
            <a:ext cx="10874959" cy="868680"/>
          </a:xfrm>
        </p:spPr>
        <p:txBody>
          <a:bodyPr wrap="square"/>
          <a:lstStyle/>
          <a:p>
            <a:pPr algn="l"/>
            <a:r>
              <a:rPr sz="3000" b="1" i="0" dirty="0">
                <a:solidFill>
                  <a:srgbClr val="1E242B"/>
                </a:solidFill>
                <a:latin typeface="Segoe UI"/>
              </a:rPr>
              <a:t>Demo</a:t>
            </a:r>
          </a:p>
        </p:txBody>
      </p:sp>
      <p:sp>
        <p:nvSpPr>
          <p:cNvPr id="3" name="Rectangle 2"/>
          <p:cNvSpPr/>
          <p:nvPr/>
        </p:nvSpPr>
        <p:spPr>
          <a:xfrm>
            <a:off x="658368" y="1170432"/>
            <a:ext cx="1005840" cy="38100"/>
          </a:xfrm>
          <a:prstGeom prst="rect">
            <a:avLst/>
          </a:prstGeom>
          <a:solidFill>
            <a:srgbClr val="B35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58368" y="6382512"/>
            <a:ext cx="10874959" cy="292608"/>
          </a:xfrm>
          <a:prstGeom prst="rect">
            <a:avLst/>
          </a:prstGeom>
          <a:noFill/>
        </p:spPr>
        <p:txBody>
          <a:bodyPr wrap="none">
            <a:spAutoFit/>
          </a:bodyPr>
          <a:lstStyle/>
          <a:p>
            <a:r>
              <a:rPr sz="900" b="0" i="0">
                <a:solidFill>
                  <a:srgbClr val="6B727B"/>
                </a:solidFill>
                <a:latin typeface="Segoe UI"/>
              </a:rPr>
              <a:t>reachAQ</a:t>
            </a:r>
          </a:p>
        </p:txBody>
      </p:sp>
      <p:sp>
        <p:nvSpPr>
          <p:cNvPr id="8" name="TextBox 7"/>
          <p:cNvSpPr txBox="1"/>
          <p:nvPr/>
        </p:nvSpPr>
        <p:spPr>
          <a:xfrm>
            <a:off x="10893247" y="6382512"/>
            <a:ext cx="640080" cy="292608"/>
          </a:xfrm>
          <a:prstGeom prst="rect">
            <a:avLst/>
          </a:prstGeom>
          <a:noFill/>
        </p:spPr>
        <p:txBody>
          <a:bodyPr wrap="none">
            <a:spAutoFit/>
          </a:bodyPr>
          <a:lstStyle/>
          <a:p>
            <a:pPr algn="r"/>
            <a:r>
              <a:rPr sz="900" b="0" i="0">
                <a:solidFill>
                  <a:srgbClr val="6B727B"/>
                </a:solidFill>
                <a:latin typeface="Segoe U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120</TotalTime>
  <Words>2602</Words>
  <Application>Microsoft Office PowerPoint</Application>
  <PresentationFormat>Widescreen</PresentationFormat>
  <Paragraphs>132</Paragraphs>
  <Slides>13</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Arial</vt:lpstr>
      <vt:lpstr>Calibri</vt:lpstr>
      <vt:lpstr>Segoe UI</vt:lpstr>
      <vt:lpstr>Office Theme</vt:lpstr>
      <vt:lpstr>reachAQ</vt:lpstr>
      <vt:lpstr>What changed from reach-training</vt:lpstr>
      <vt:lpstr>What came from auto-trainer</vt:lpstr>
      <vt:lpstr>Why pose could not close a loop before</vt:lpstr>
      <vt:lpstr>What we changed</vt:lpstr>
      <vt:lpstr>What we changed</vt:lpstr>
      <vt:lpstr>What it measured</vt:lpstr>
      <vt:lpstr>Pick the model that fits the experiment</vt:lpstr>
      <vt:lpstr>What this buys, and what it costs</vt:lpstr>
      <vt:lpstr>Everything lands on one timebase</vt:lpstr>
      <vt:lpstr>Signals you can watch while the session runs</vt:lpstr>
      <vt:lpstr> Build experiments from reusable blocks</vt:lpstr>
      <vt:lpstr>Demo</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Reynolds, Benjamin</cp:lastModifiedBy>
  <cp:revision>4</cp:revision>
  <dcterms:created xsi:type="dcterms:W3CDTF">2013-01-27T09:14:16Z</dcterms:created>
  <dcterms:modified xsi:type="dcterms:W3CDTF">2026-09-18T16:41:36Z</dcterms:modified>
  <cp:category/>
</cp:coreProperties>
</file>