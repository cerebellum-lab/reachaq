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at the level of what the operator notices. The detail is on the slides that follow. The single sentence worth landing: reach-training watched and recorded, reachAQ decides and acts inside the same 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plainly that we did not start over. reachAQ changed the hardware target, added stimulation and signal visualisation, and put pose in the control loop. Everything underneath it is auto-trainer's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numbers that matter: under 16 competing processes, SCHED_OTHER reaches 6.05 ms max and misses 13 deadlines; SCHED_FIFO holds p99 at 0.059 ms and max at 0.155 ms with zero misses, and restores the full 900 Hz cadence. That is roughly 32x headroom under a load harsher than real acquisition. Worth stating: a PREEMPT_RT kernel is not required. Stock Linux already preempts SCHED_OTHER for SCHED_FIFO.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measurement that makes pose-driven gating viable at all. At ~11 ms p99 the behaviour loop has room inside a 150 FPS frame budget. It also shows why the install script sets the governor: the default cost more than half the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sync modes: auto, backplane, external, independent. Compatible PXI cards share PXI_CLK10, a backplane start trigger and a routed master sample clock. Devices resolve by product and serial, so a changed NI-DAQmx alias never silently rebinds to the wrong card. Tone confirmation cross-checks commanded tones against the pulses actually observed.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for a new user is that this replaces post-hoc plotting. A decimated FSR trace is useless for behavioural analysis, so samples are forwarded unthrottled and an armed session gains roughly 166 rows a second. Worth flagging out loud: there is no microphone channel in the system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pinning behaviour is the part worth dwelling on. It is what stops an edit to a shared phase from quietly changing an experiment that was already validated.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order — launch with --demo or toggle Tools &gt; Demo Mode while idle; show both camera panels carrying their own overlay; show the NI-DAQ signal stream; drive the pellet device by hand; open the protocol editor and the experiment sidebar; start a recording and let trials run; stop and show the session directory with its DEMO marker. Point at the red banner — it is there so nobody mistakes a demo session for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8368" y="2240280"/>
            <a:ext cx="10874959" cy="1234440"/>
          </a:xfrm>
        </p:spPr>
        <p:txBody>
          <a:bodyPr/>
          <a:lstStyle/>
          <a:p>
            <a:pPr algn="l"/>
            <a:r>
              <a:rPr sz="5400" b="1" i="0">
                <a:solidFill>
                  <a:srgbClr val="1E242B"/>
                </a:solidFill>
                <a:latin typeface="Segoe UI"/>
              </a:rPr>
              <a:t>reachAQ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68" y="3520440"/>
            <a:ext cx="8686800" cy="914400"/>
          </a:xfrm>
        </p:spPr>
        <p:txBody>
          <a:bodyPr wrap="square"/>
          <a:lstStyle/>
          <a:p>
            <a:pPr algn="l"/>
            <a:r>
              <a:rPr sz="1700" b="0" i="0">
                <a:solidFill>
                  <a:srgbClr val="6B727B"/>
                </a:solidFill>
                <a:latin typeface="Segoe UI"/>
              </a:rPr>
              <a:t>Automated mouse reach acquisition — what changed, and what it costs in milliseconds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965960"/>
            <a:ext cx="1005840" cy="38100"/>
          </a:xfrm>
          <a:prstGeom prst="rect">
            <a:avLst/>
          </a:prstGeom>
          <a:solidFill>
            <a:srgbClr val="B35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457200"/>
            <a:ext cx="10874959" cy="868680"/>
          </a:xfrm>
        </p:spPr>
        <p:txBody>
          <a:bodyPr wrap="square"/>
          <a:lstStyle/>
          <a:p>
            <a:pPr algn="l"/>
            <a:r>
              <a:rPr sz="3000" b="1" i="0">
                <a:solidFill>
                  <a:srgbClr val="1E242B"/>
                </a:solidFill>
                <a:latin typeface="Segoe UI"/>
              </a:rPr>
              <a:t>What changed from reach-training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2487168"/>
            <a:ext cx="5186019" cy="3593592"/>
          </a:xfrm>
        </p:spPr>
        <p:txBody>
          <a:bodyPr wrap="square"/>
          <a:lstStyle/>
          <a:p>
            <a:pPr>
              <a:spcAft>
                <a:spcPts val="1100"/>
              </a:spcAft>
            </a:pPr>
            <a:r>
              <a:rPr sz="1350" b="0" i="0">
                <a:solidFill>
                  <a:srgbClr val="1E242B"/>
                </a:solidFill>
                <a:latin typeface="Segoe UI"/>
              </a:rPr>
              <a:t>Reach detected by a brightness threshold inside a drawn ROI</a:t>
            </a:r>
          </a:p>
          <a:p>
            <a:pPr>
              <a:spcAft>
                <a:spcPts val="1100"/>
              </a:spcAft>
            </a:pPr>
            <a:r>
              <a:rPr sz="1350" b="0" i="0">
                <a:solidFill>
                  <a:srgbClr val="1E242B"/>
                </a:solidFill>
                <a:latin typeface="Segoe UI"/>
              </a:rPr>
              <a:t>Pellet arm driven by an Arduino over USB serial</a:t>
            </a:r>
          </a:p>
          <a:p>
            <a:pPr>
              <a:spcAft>
                <a:spcPts val="1100"/>
              </a:spcAft>
            </a:pPr>
            <a:r>
              <a:rPr sz="1350" b="0" i="0">
                <a:solidFill>
                  <a:srgbClr val="1E242B"/>
                </a:solidFill>
                <a:latin typeface="Segoe UI"/>
              </a:rPr>
              <a:t>Timing owned by a Python loop on the host</a:t>
            </a:r>
          </a:p>
          <a:p>
            <a:pPr>
              <a:spcAft>
                <a:spcPts val="1100"/>
              </a:spcAft>
            </a:pPr>
            <a:r>
              <a:rPr sz="1350" b="0" i="0">
                <a:solidFill>
                  <a:srgbClr val="1E242B"/>
                </a:solidFill>
                <a:latin typeface="Segoe UI"/>
              </a:rPr>
              <a:t>Signals inspected afterwards, from files</a:t>
            </a:r>
          </a:p>
          <a:p>
            <a:pPr>
              <a:spcAft>
                <a:spcPts val="1100"/>
              </a:spcAft>
            </a:pPr>
            <a:r>
              <a:rPr sz="1350" b="0" i="0">
                <a:solidFill>
                  <a:srgbClr val="1E242B"/>
                </a:solidFill>
                <a:latin typeface="Segoe UI"/>
              </a:rPr>
              <a:t>One flat protocol per experiment, delays drawn live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47307" y="2487168"/>
            <a:ext cx="5186019" cy="3593592"/>
          </a:xfrm>
        </p:spPr>
        <p:txBody>
          <a:bodyPr wrap="square"/>
          <a:lstStyle/>
          <a:p>
            <a:pPr>
              <a:spcAft>
                <a:spcPts val="1100"/>
              </a:spcAft>
            </a:pPr>
            <a:r>
              <a:rPr sz="1350" b="0" i="0">
                <a:solidFill>
                  <a:srgbClr val="1E242B"/>
                </a:solidFill>
                <a:latin typeface="Segoe UI"/>
              </a:rPr>
              <a:t>Reach detected from live pose keypoints, per camera view, on the GPU</a:t>
            </a:r>
          </a:p>
          <a:p>
            <a:pPr>
              <a:spcAft>
                <a:spcPts val="1100"/>
              </a:spcAft>
            </a:pPr>
            <a:r>
              <a:rPr sz="1350" b="0" i="0">
                <a:solidFill>
                  <a:srgbClr val="1E242B"/>
                </a:solidFill>
                <a:latin typeface="Segoe UI"/>
              </a:rPr>
              <a:t>Pellet arm on a CAN bus, with firmware capability checks and FSR pressure</a:t>
            </a:r>
          </a:p>
          <a:p>
            <a:pPr>
              <a:spcAft>
                <a:spcPts val="1100"/>
              </a:spcAft>
            </a:pPr>
            <a:r>
              <a:rPr sz="1350" b="0" i="0">
                <a:solidFill>
                  <a:srgbClr val="1E242B"/>
                </a:solidFill>
                <a:latin typeface="Segoe UI"/>
              </a:rPr>
              <a:t>Timing owned by hardware-timed NI-DAQ tasks and a SCHED_FIFO stim loop</a:t>
            </a:r>
          </a:p>
          <a:p>
            <a:pPr>
              <a:spcAft>
                <a:spcPts val="1100"/>
              </a:spcAft>
            </a:pPr>
            <a:r>
              <a:rPr sz="1350" b="0" i="0">
                <a:solidFill>
                  <a:srgbClr val="1E242B"/>
                </a:solidFill>
                <a:latin typeface="Segoe UI"/>
              </a:rPr>
              <a:t>Signals plotted live during the session, and recorded unfiltered</a:t>
            </a:r>
          </a:p>
          <a:p>
            <a:pPr>
              <a:spcAft>
                <a:spcPts val="1100"/>
              </a:spcAft>
            </a:pPr>
            <a:r>
              <a:rPr sz="1350" b="0" i="0">
                <a:solidFill>
                  <a:srgbClr val="1E242B"/>
                </a:solidFill>
                <a:latin typeface="Segoe UI"/>
              </a:rPr>
              <a:t>Experiments composed from reusable trial sets, with reproducible draws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70432"/>
            <a:ext cx="1005840" cy="38100"/>
          </a:xfrm>
          <a:prstGeom prst="rect">
            <a:avLst/>
          </a:prstGeom>
          <a:solidFill>
            <a:srgbClr val="B35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6B727B"/>
                </a:solidFill>
                <a:latin typeface="Segoe UI"/>
              </a:rPr>
              <a:t>Same experiment. The difference is what the system can do while the reach is still happening.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03120"/>
            <a:ext cx="518601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>
                <a:solidFill>
                  <a:srgbClr val="6B7F9E"/>
                </a:solidFill>
                <a:latin typeface="Segoe UI"/>
              </a:rPr>
              <a:t>reach-training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7" y="2103120"/>
            <a:ext cx="518601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>
                <a:solidFill>
                  <a:srgbClr val="B3593F"/>
                </a:solidFill>
                <a:latin typeface="Segoe UI"/>
              </a:rPr>
              <a:t>reachAQ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B727B"/>
                </a:solidFill>
                <a:latin typeface="Segoe UI"/>
              </a:rPr>
              <a:t>reachAQ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382512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27B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457200"/>
            <a:ext cx="10874959" cy="868680"/>
          </a:xfrm>
        </p:spPr>
        <p:txBody>
          <a:bodyPr wrap="square"/>
          <a:lstStyle/>
          <a:p>
            <a:pPr algn="l"/>
            <a:r>
              <a:rPr sz="3000" b="1" i="0">
                <a:solidFill>
                  <a:srgbClr val="1E242B"/>
                </a:solidFill>
                <a:latin typeface="Segoe UI"/>
              </a:rPr>
              <a:t>What came from auto-trainer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2057400"/>
            <a:ext cx="10874959" cy="4023360"/>
          </a:xfrm>
        </p:spPr>
        <p:txBody>
          <a:bodyPr wrap="square"/>
          <a:lstStyle/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The modular package split — core, video, device, inference, behavior, model, pyside — which is why hardware can be swapped without touching the rest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Per-process video capture with a shared synchronized frame index, so frame N means the same instant on every camera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Pose inference and FLIR stereo calibration, already integrated into the application rather than run afterwards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The CAN device abstraction, and the project, session and metadata structure that makes a recording self-describing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The PySide6 UI layer and its panel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005840" cy="38100"/>
          </a:xfrm>
          <a:prstGeom prst="rect">
            <a:avLst/>
          </a:prstGeom>
          <a:solidFill>
            <a:srgbClr val="B35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6B727B"/>
                </a:solidFill>
                <a:latin typeface="Segoe UI"/>
              </a:rPr>
              <a:t>reachAQ is built on auto-trainer, not beside it. The architecture and most of the runtime are theirs.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B727B"/>
                </a:solidFill>
                <a:latin typeface="Segoe UI"/>
              </a:rPr>
              <a:t>reachAQ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3247" y="6382512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27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457200"/>
            <a:ext cx="10874959" cy="868680"/>
          </a:xfrm>
        </p:spPr>
        <p:txBody>
          <a:bodyPr wrap="square"/>
          <a:lstStyle/>
          <a:p>
            <a:pPr algn="l"/>
            <a:r>
              <a:rPr sz="3000" b="1" i="0">
                <a:solidFill>
                  <a:srgbClr val="1E242B"/>
                </a:solidFill>
                <a:latin typeface="Segoe UI"/>
              </a:rPr>
              <a:t>The stim loop holds well under its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38100"/>
          </a:xfrm>
          <a:prstGeom prst="rect">
            <a:avLst/>
          </a:prstGeom>
          <a:solidFill>
            <a:srgbClr val="B35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6B727B"/>
                </a:solidFill>
                <a:latin typeface="Segoe UI"/>
              </a:rPr>
              <a:t>900 Hz stimCam, small ROI, decision made inline in the capture thread. 60 s runs, pinned to physical P-cores.</a:t>
            </a:r>
          </a:p>
        </p:txBody>
      </p:sp>
      <p:pic>
        <p:nvPicPr>
          <p:cNvPr id="5" name="Picture 4" descr="stim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711" y="1847088"/>
            <a:ext cx="8006272" cy="3822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797296"/>
            <a:ext cx="108749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B727B"/>
                </a:solidFill>
                <a:latin typeface="Segoe UI"/>
              </a:rPr>
              <a:t>The detector's own work never exceeds 0.09 ms. The entire tail was scheduler wake-up latency — so it is a scheduling problem, not a compute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B727B"/>
                </a:solidFill>
                <a:latin typeface="Segoe UI"/>
              </a:rPr>
              <a:t>reachAQ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382512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27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457200"/>
            <a:ext cx="10874959" cy="868680"/>
          </a:xfrm>
        </p:spPr>
        <p:txBody>
          <a:bodyPr wrap="square"/>
          <a:lstStyle/>
          <a:p>
            <a:pPr algn="l"/>
            <a:r>
              <a:rPr sz="3000" b="1" i="0">
                <a:solidFill>
                  <a:srgbClr val="1E242B"/>
                </a:solidFill>
                <a:latin typeface="Segoe UI"/>
              </a:rPr>
              <a:t>Live inference is fast enough to sit in the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38100"/>
          </a:xfrm>
          <a:prstGeom prst="rect">
            <a:avLst/>
          </a:prstGeom>
          <a:solidFill>
            <a:srgbClr val="B35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6B727B"/>
                </a:solidFill>
                <a:latin typeface="Segoe UI"/>
              </a:rPr>
              <a:t>DeepLabCut on TensorFlow, batch 2 at 128x128, running on the GPU.</a:t>
            </a:r>
          </a:p>
        </p:txBody>
      </p:sp>
      <p:pic>
        <p:nvPicPr>
          <p:cNvPr id="5" name="Picture 4" descr="inference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038" y="1847088"/>
            <a:ext cx="9357619" cy="3822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797296"/>
            <a:ext cx="108749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B727B"/>
                </a:solidFill>
                <a:latin typeface="Segoe UI"/>
              </a:rPr>
              <a:t>Same hardware, same model. Six milliseconds of p99 came from one CPU governor setting — powersave held the P-cores near 2700 MHz against a 5000 MHz ceiling.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B727B"/>
                </a:solidFill>
                <a:latin typeface="Segoe UI"/>
              </a:rPr>
              <a:t>reachAQ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382512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27B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457200"/>
            <a:ext cx="10874959" cy="868680"/>
          </a:xfrm>
        </p:spPr>
        <p:txBody>
          <a:bodyPr wrap="square"/>
          <a:lstStyle/>
          <a:p>
            <a:pPr algn="l"/>
            <a:r>
              <a:rPr sz="3000" b="1" i="0">
                <a:solidFill>
                  <a:srgbClr val="1E242B"/>
                </a:solidFill>
                <a:latin typeface="Segoe UI"/>
              </a:rPr>
              <a:t>Everything lands on one timebase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38100"/>
          </a:xfrm>
          <a:prstGeom prst="rect">
            <a:avLst/>
          </a:prstGeom>
          <a:solidFill>
            <a:srgbClr val="B35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6B727B"/>
                </a:solidFill>
                <a:latin typeface="Segoe UI"/>
              </a:rPr>
              <a:t>Cameras, tones, pellet events and laser output are not separately timestamped and hoped to agree.</a:t>
            </a:r>
          </a:p>
        </p:txBody>
      </p:sp>
      <p:pic>
        <p:nvPicPr>
          <p:cNvPr id="5" name="Picture 4" descr="synchron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47088"/>
            <a:ext cx="10874959" cy="36631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638248"/>
            <a:ext cx="108749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B727B"/>
                </a:solidFill>
                <a:latin typeface="Segoe UI"/>
              </a:rPr>
              <a:t>Camera frame edges are matched to NI-DAQ samples with a signed offset, a resolution, and a confidence — all written into alignment.json.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B727B"/>
                </a:solidFill>
                <a:latin typeface="Segoe UI"/>
              </a:rPr>
              <a:t>reachAQ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382512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27B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457200"/>
            <a:ext cx="10874959" cy="868680"/>
          </a:xfrm>
        </p:spPr>
        <p:txBody>
          <a:bodyPr wrap="square"/>
          <a:lstStyle/>
          <a:p>
            <a:pPr algn="l"/>
            <a:r>
              <a:rPr sz="3000" b="1" i="0">
                <a:solidFill>
                  <a:srgbClr val="1E242B"/>
                </a:solidFill>
                <a:latin typeface="Segoe UI"/>
              </a:rPr>
              <a:t>Signals you can watch while the session 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2057400"/>
            <a:ext cx="10874959" cy="4023360"/>
          </a:xfrm>
        </p:spPr>
        <p:txBody>
          <a:bodyPr wrap="square"/>
          <a:lstStyle/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Tones 1, 2 and 3 as logic traces, with the commanded onset checked against the pulse the DAQ actually saw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Pellet FSR pressure — two sensors at about 83 Hz each, from firmware 2.1.0, on their own stream rather than mixed into the device log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Laser analog command alongside the diode readback, so what was asked for and what came out are on the same axis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Camera frame pulses and the barcode line, which are what tie video to samples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Closed-loop state: what the pose gate answered, when the cue fired, and whether the trial was cancelled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005840" cy="38100"/>
          </a:xfrm>
          <a:prstGeom prst="rect">
            <a:avLst/>
          </a:prstGeom>
          <a:solidFill>
            <a:srgbClr val="B35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6B727B"/>
                </a:solidFill>
                <a:latin typeface="Segoe UI"/>
              </a:rPr>
              <a:t>Everything is acquired continuously at 10 kHz and recorded unfiltered. The plot selection only changes what is drawn.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B727B"/>
                </a:solidFill>
                <a:latin typeface="Segoe UI"/>
              </a:rPr>
              <a:t>reachAQ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3247" y="6382512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27B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457200"/>
            <a:ext cx="10874959" cy="868680"/>
          </a:xfrm>
        </p:spPr>
        <p:txBody>
          <a:bodyPr wrap="square"/>
          <a:lstStyle/>
          <a:p>
            <a:pPr algn="l"/>
            <a:r>
              <a:rPr sz="3000" b="1" i="0">
                <a:solidFill>
                  <a:srgbClr val="1E242B"/>
                </a:solidFill>
                <a:latin typeface="Segoe UI"/>
              </a:rPr>
              <a:t>Experiments are composed, not copied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2057400"/>
            <a:ext cx="10874959" cy="4023360"/>
          </a:xfrm>
        </p:spPr>
        <p:txBody>
          <a:bodyPr wrap="square"/>
          <a:lstStyle/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A trial set is a reusable group of trials, saved on its own — trial content only, no epochs or blocks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An experiment is an ordered list of set appearances; each entry pins the set revision it was built against, can repeat, and can shuffle trial order within an appearance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Compiling flattens it into an ordinary protocol document, so the runner, the schedule and session evidence see nothing new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Each appearance becomes a named epoch, and the Sources column names the set every value came from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Shuffle seeds are stored on the entry, so a compile can always be repeated exactly</a:t>
            </a:r>
          </a:p>
          <a:p>
            <a:pPr>
              <a:spcAft>
                <a:spcPts val="1300"/>
              </a:spcAft>
            </a:pPr>
            <a:r>
              <a:rPr sz="1500" b="0" i="0">
                <a:solidFill>
                  <a:srgbClr val="1E242B"/>
                </a:solidFill>
                <a:latin typeface="Segoe UI"/>
              </a:rPr>
              <a:t>Editing a set never repins an existing row; a stale pin is visible, and a compile against a changed set is refused rather than silently different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005840" cy="38100"/>
          </a:xfrm>
          <a:prstGeom prst="rect">
            <a:avLst/>
          </a:prstGeom>
          <a:solidFill>
            <a:srgbClr val="B35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6B727B"/>
                </a:solidFill>
                <a:latin typeface="Segoe UI"/>
              </a:rPr>
              <a:t>A phase shared by several experiments is written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B727B"/>
                </a:solidFill>
                <a:latin typeface="Segoe UI"/>
              </a:rPr>
              <a:t>reachAQ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3247" y="6382512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27B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457200"/>
            <a:ext cx="10874959" cy="868680"/>
          </a:xfrm>
        </p:spPr>
        <p:txBody>
          <a:bodyPr wrap="square"/>
          <a:lstStyle/>
          <a:p>
            <a:pPr algn="l"/>
            <a:r>
              <a:rPr sz="3000" b="1" i="0">
                <a:solidFill>
                  <a:srgbClr val="1E242B"/>
                </a:solidFill>
                <a:latin typeface="Segoe UI"/>
              </a:rPr>
              <a:t>Demo — recorded video, everything else live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38100"/>
          </a:xfrm>
          <a:prstGeom prst="rect">
            <a:avLst/>
          </a:prstGeom>
          <a:solidFill>
            <a:srgbClr val="B35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6B727B"/>
                </a:solidFill>
                <a:latin typeface="Segoe UI"/>
              </a:rPr>
              <a:t>No animal today, so the camera frames are played from a recorded session. Exactly one stage is substituted.</a:t>
            </a:r>
          </a:p>
        </p:txBody>
      </p:sp>
      <p:pic>
        <p:nvPicPr>
          <p:cNvPr id="5" name="Picture 4" descr="li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283" y="1847088"/>
            <a:ext cx="9787128" cy="3822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797296"/>
            <a:ext cx="108749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B727B"/>
                </a:solidFill>
                <a:latin typeface="Segoe UI"/>
              </a:rPr>
              <a:t>Live 2D pose, per view, computed on the GPU from the played frames. Captured from the running application on the rig.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B727B"/>
                </a:solidFill>
                <a:latin typeface="Segoe UI"/>
              </a:rPr>
              <a:t>reachAQ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382512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27B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