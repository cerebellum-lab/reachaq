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at the level of what the operator notices. The one sentence worth landing: reach-training watched and recorded, reachAQ decides and acts inside the same reach.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plainly that we did not start over. reachAQ changed the hardware target, added stimulation and signal visualisation, and made the pose stream fast enough to act on. Everything underneath is auto-trainer's design.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exists so the numbers later have something to be measured against. Do not let 5 ms drift into sounding like an average — it is the tail figure the loop is designed to hold.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organising idea of the whole section. The payoff for a user is that there are now two closed loops available — the fast ROI reflex, and machine vision on the pose stream — rather than one compromise between them.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Adopted: SCHED_FIFO plus the performance CPU governor. Both a PREEMPT_RT kernel and core pinning were measured and declined — stock Linux already preempts SCHED_OTHER for SCHED_FIFO, and the result leaves roughly 32x headroom under a load harsher than real acquisition.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Partial batch — running the 2 real frames instead of a padded 6 — took 54.8 to 25.3 ms, and needs the PyTorch engine because the TensorFlow graph fixes its batch size. The decode rewrite, argmax instead of sort with cached column indices and numpy instead of pandas, is always on and model-independent. Also gated: an ROI crop from 256 to 128 px, worth about 2.6x on the forward pass, and a lean predict path worth about 1.2 ms per call. CUDA-graph capture, 7.4 to 3.6 ms, is YOLO-backend only. The engine migration to PyTorch is roughly neutral like-for-like — its value is unlocking newer GPUs, dynamic batching and everything above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Worth pairing with the Tier 1 slide — the governor is one of the two always-on system settings, alongside real-time scheduling.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correctness property, not a speedup, and it is what makes "pose runs below camera rate" an accepted design point rather than a hazard. Worth saying out loud for an audience that will otherwise assume a slow model drops data.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for the technical audience. If asked about INT8 — it could pay on Turing's DP4A, the route tried produced a broken engine, and the correct route is identified but not done. Figures throughout are rig measurements on this hardware; they are not claims about other cards.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sync modes: auto, backplane, external, independent. Compatible PXI cards share PXI_CLK10, a backplane start trigger and a routed master sample clock. Devices resolve by product and serial, so a changed NI-DAQmx alias never silently rebinds to the wrong card. Tone confirmation cross-checks commanded tones against the pulses actually observed.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point for a new user is that this replaces post-hoc plotting. A decimated FSR trace is useless for behavioural analysis, so samples are forwarded unthrottled and an armed session gains roughly 166 rows a second. Worth flagging out loud: there is no microphone channel in the system today.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pinning behaviour is the part worth dwelling on. It is what stops an edit to a shared phase from quietly changing an experiment that was already validated.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order — launch with --demo or toggle Tools &gt; Demo Mode while idle; show both camera panels carrying their own overlay; show the NI-DAQ signal stream; drive the pellet device by hand; open the protocol editor and the experiment sidebar; start a recording and let trials run; stop and show the session directory with its DEMO marker. Point at the red banner — it is there so nobody mistakes a demo session for data.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658368" y="2240280"/>
            <a:ext cx="10874959" cy="1234440"/>
          </a:xfrm>
        </p:spPr>
        <p:txBody>
          <a:bodyPr/>
          <a:lstStyle/>
          <a:p>
            <a:pPr algn="l"/>
            <a:r>
              <a:rPr sz="5400" b="1" i="0">
                <a:solidFill>
                  <a:srgbClr val="1E242B"/>
                </a:solidFill>
                <a:latin typeface="Segoe UI"/>
              </a:rPr>
              <a:t>reachAQ</a:t>
            </a:r>
          </a:p>
        </p:txBody>
      </p:sp>
      <p:sp>
        <p:nvSpPr>
          <p:cNvPr id="3" name="Subtitle 2"/>
          <p:cNvSpPr>
            <a:spLocks noGrp="1"/>
          </p:cNvSpPr>
          <p:nvPr>
            <p:ph type="subTitle" idx="1"/>
          </p:nvPr>
        </p:nvSpPr>
        <p:spPr>
          <a:xfrm>
            <a:off x="658368" y="3520440"/>
            <a:ext cx="8686800" cy="914400"/>
          </a:xfrm>
        </p:spPr>
        <p:txBody>
          <a:bodyPr wrap="square"/>
          <a:lstStyle/>
          <a:p>
            <a:pPr algn="l"/>
            <a:r>
              <a:rPr sz="1700" b="0" i="0">
                <a:solidFill>
                  <a:srgbClr val="6B727B"/>
                </a:solidFill>
                <a:latin typeface="Segoe UI"/>
              </a:rPr>
              <a:t>Automated mouse reach acquisition — what changed, and what it costs in milliseconds</a:t>
            </a:r>
          </a:p>
        </p:txBody>
      </p:sp>
      <p:sp>
        <p:nvSpPr>
          <p:cNvPr id="4" name="Rectangle 3"/>
          <p:cNvSpPr/>
          <p:nvPr/>
        </p:nvSpPr>
        <p:spPr>
          <a:xfrm>
            <a:off x="658368" y="1965960"/>
            <a:ext cx="1005840" cy="38100"/>
          </a:xfrm>
          <a:prstGeom prst="rect">
            <a:avLst/>
          </a:prstGeom>
          <a:solidFill>
            <a:srgbClr val="B35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58368" y="457200"/>
            <a:ext cx="10874959" cy="868680"/>
          </a:xfrm>
        </p:spPr>
        <p:txBody>
          <a:bodyPr wrap="square"/>
          <a:lstStyle/>
          <a:p>
            <a:pPr algn="l"/>
            <a:r>
              <a:rPr sz="3000" b="1" i="0">
                <a:solidFill>
                  <a:srgbClr val="1E242B"/>
                </a:solidFill>
                <a:latin typeface="Segoe UI"/>
              </a:rPr>
              <a:t>What changed from reach-training</a:t>
            </a:r>
          </a:p>
        </p:txBody>
      </p:sp>
      <p:sp>
        <p:nvSpPr>
          <p:cNvPr id="3" name="Content Placeholder 2"/>
          <p:cNvSpPr>
            <a:spLocks noGrp="1"/>
          </p:cNvSpPr>
          <p:nvPr>
            <p:ph idx="1" sz="half"/>
          </p:nvPr>
        </p:nvSpPr>
        <p:spPr>
          <a:xfrm>
            <a:off x="658368" y="2487168"/>
            <a:ext cx="5186019" cy="3593592"/>
          </a:xfrm>
        </p:spPr>
        <p:txBody>
          <a:bodyPr wrap="square"/>
          <a:lstStyle/>
          <a:p>
            <a:pPr>
              <a:spcAft>
                <a:spcPts val="1100"/>
              </a:spcAft>
            </a:pPr>
            <a:r>
              <a:rPr sz="1350" b="0" i="0">
                <a:solidFill>
                  <a:srgbClr val="1E242B"/>
                </a:solidFill>
                <a:latin typeface="Segoe UI"/>
              </a:rPr>
              <a:t>Reach detected by a brightness threshold inside a drawn ROI</a:t>
            </a:r>
          </a:p>
          <a:p>
            <a:pPr>
              <a:spcAft>
                <a:spcPts val="1100"/>
              </a:spcAft>
            </a:pPr>
            <a:r>
              <a:rPr sz="1350" b="0" i="0">
                <a:solidFill>
                  <a:srgbClr val="1E242B"/>
                </a:solidFill>
                <a:latin typeface="Segoe UI"/>
              </a:rPr>
              <a:t>Pellet arm driven by an Arduino over USB serial</a:t>
            </a:r>
          </a:p>
          <a:p>
            <a:pPr>
              <a:spcAft>
                <a:spcPts val="1100"/>
              </a:spcAft>
            </a:pPr>
            <a:r>
              <a:rPr sz="1350" b="0" i="0">
                <a:solidFill>
                  <a:srgbClr val="1E242B"/>
                </a:solidFill>
                <a:latin typeface="Segoe UI"/>
              </a:rPr>
              <a:t>Timing owned by a Python loop on the host</a:t>
            </a:r>
          </a:p>
          <a:p>
            <a:pPr>
              <a:spcAft>
                <a:spcPts val="1100"/>
              </a:spcAft>
            </a:pPr>
            <a:r>
              <a:rPr sz="1350" b="0" i="0">
                <a:solidFill>
                  <a:srgbClr val="1E242B"/>
                </a:solidFill>
                <a:latin typeface="Segoe UI"/>
              </a:rPr>
              <a:t>Signals inspected afterwards, from files</a:t>
            </a:r>
          </a:p>
          <a:p>
            <a:pPr>
              <a:spcAft>
                <a:spcPts val="1100"/>
              </a:spcAft>
            </a:pPr>
            <a:r>
              <a:rPr sz="1350" b="0" i="0">
                <a:solidFill>
                  <a:srgbClr val="1E242B"/>
                </a:solidFill>
                <a:latin typeface="Segoe UI"/>
              </a:rPr>
              <a:t>One flat protocol per experiment, delays drawn live</a:t>
            </a:r>
          </a:p>
        </p:txBody>
      </p:sp>
      <p:sp>
        <p:nvSpPr>
          <p:cNvPr id="4" name="Content Placeholder 3"/>
          <p:cNvSpPr>
            <a:spLocks noGrp="1"/>
          </p:cNvSpPr>
          <p:nvPr>
            <p:ph idx="2" sz="half"/>
          </p:nvPr>
        </p:nvSpPr>
        <p:spPr>
          <a:xfrm>
            <a:off x="6347307" y="2487168"/>
            <a:ext cx="5186019" cy="3593592"/>
          </a:xfrm>
        </p:spPr>
        <p:txBody>
          <a:bodyPr wrap="square"/>
          <a:lstStyle/>
          <a:p>
            <a:pPr>
              <a:spcAft>
                <a:spcPts val="1100"/>
              </a:spcAft>
            </a:pPr>
            <a:r>
              <a:rPr sz="1350" b="0" i="0">
                <a:solidFill>
                  <a:srgbClr val="1E242B"/>
                </a:solidFill>
                <a:latin typeface="Segoe UI"/>
              </a:rPr>
              <a:t>Two closed loops — a fast ROI reflex, and machine vision on the pose stream</a:t>
            </a:r>
          </a:p>
          <a:p>
            <a:pPr>
              <a:spcAft>
                <a:spcPts val="1100"/>
              </a:spcAft>
            </a:pPr>
            <a:r>
              <a:rPr sz="1350" b="0" i="0">
                <a:solidFill>
                  <a:srgbClr val="1E242B"/>
                </a:solidFill>
                <a:latin typeface="Segoe UI"/>
              </a:rPr>
              <a:t>Pellet arm on a CAN bus, with firmware capability checks and FSR pressure</a:t>
            </a:r>
          </a:p>
          <a:p>
            <a:pPr>
              <a:spcAft>
                <a:spcPts val="1100"/>
              </a:spcAft>
            </a:pPr>
            <a:r>
              <a:rPr sz="1350" b="0" i="0">
                <a:solidFill>
                  <a:srgbClr val="1E242B"/>
                </a:solidFill>
                <a:latin typeface="Segoe UI"/>
              </a:rPr>
              <a:t>Timing owned by hardware-timed NI-DAQ tasks and a real-time stim loop</a:t>
            </a:r>
          </a:p>
          <a:p>
            <a:pPr>
              <a:spcAft>
                <a:spcPts val="1100"/>
              </a:spcAft>
            </a:pPr>
            <a:r>
              <a:rPr sz="1350" b="0" i="0">
                <a:solidFill>
                  <a:srgbClr val="1E242B"/>
                </a:solidFill>
                <a:latin typeface="Segoe UI"/>
              </a:rPr>
              <a:t>Signals plotted live during the session, and recorded unfiltered</a:t>
            </a:r>
          </a:p>
          <a:p>
            <a:pPr>
              <a:spcAft>
                <a:spcPts val="1100"/>
              </a:spcAft>
            </a:pPr>
            <a:r>
              <a:rPr sz="1350" b="0" i="0">
                <a:solidFill>
                  <a:srgbClr val="1E242B"/>
                </a:solidFill>
                <a:latin typeface="Segoe UI"/>
              </a:rPr>
              <a:t>Experiments composed from reusable trial sets, with reproducible draws</a:t>
            </a:r>
          </a:p>
        </p:txBody>
      </p:sp>
      <p:sp>
        <p:nvSpPr>
          <p:cNvPr id="5" name="Rectangle 4"/>
          <p:cNvSpPr/>
          <p:nvPr/>
        </p:nvSpPr>
        <p:spPr>
          <a:xfrm>
            <a:off x="658368" y="1170432"/>
            <a:ext cx="1005840" cy="38100"/>
          </a:xfrm>
          <a:prstGeom prst="rect">
            <a:avLst/>
          </a:prstGeom>
          <a:solidFill>
            <a:srgbClr val="B35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371600"/>
            <a:ext cx="10874959" cy="457200"/>
          </a:xfrm>
          <a:prstGeom prst="rect">
            <a:avLst/>
          </a:prstGeom>
          <a:noFill/>
        </p:spPr>
        <p:txBody>
          <a:bodyPr wrap="square">
            <a:spAutoFit/>
          </a:bodyPr>
          <a:lstStyle/>
          <a:p>
            <a:r>
              <a:rPr sz="1400" b="0" i="1">
                <a:solidFill>
                  <a:srgbClr val="6B727B"/>
                </a:solidFill>
                <a:latin typeface="Segoe UI"/>
              </a:rPr>
              <a:t>Same experiment. The difference is what the system can do while the reach is still happening.</a:t>
            </a:r>
          </a:p>
        </p:txBody>
      </p:sp>
      <p:sp>
        <p:nvSpPr>
          <p:cNvPr id="7" name="TextBox 6"/>
          <p:cNvSpPr txBox="1"/>
          <p:nvPr/>
        </p:nvSpPr>
        <p:spPr>
          <a:xfrm>
            <a:off x="658368" y="2103120"/>
            <a:ext cx="5186019" cy="347472"/>
          </a:xfrm>
          <a:prstGeom prst="rect">
            <a:avLst/>
          </a:prstGeom>
          <a:noFill/>
        </p:spPr>
        <p:txBody>
          <a:bodyPr wrap="none">
            <a:spAutoFit/>
          </a:bodyPr>
          <a:lstStyle/>
          <a:p>
            <a:r>
              <a:rPr sz="1500" b="1" i="0">
                <a:solidFill>
                  <a:srgbClr val="6B7F9E"/>
                </a:solidFill>
                <a:latin typeface="Segoe UI"/>
              </a:rPr>
              <a:t>reach-training</a:t>
            </a:r>
          </a:p>
        </p:txBody>
      </p:sp>
      <p:sp>
        <p:nvSpPr>
          <p:cNvPr id="8" name="TextBox 7"/>
          <p:cNvSpPr txBox="1"/>
          <p:nvPr/>
        </p:nvSpPr>
        <p:spPr>
          <a:xfrm>
            <a:off x="6347307" y="2103120"/>
            <a:ext cx="5186019" cy="347472"/>
          </a:xfrm>
          <a:prstGeom prst="rect">
            <a:avLst/>
          </a:prstGeom>
          <a:noFill/>
        </p:spPr>
        <p:txBody>
          <a:bodyPr wrap="none">
            <a:spAutoFit/>
          </a:bodyPr>
          <a:lstStyle/>
          <a:p>
            <a:r>
              <a:rPr sz="1500" b="1" i="0">
                <a:solidFill>
                  <a:srgbClr val="B3593F"/>
                </a:solidFill>
                <a:latin typeface="Segoe UI"/>
              </a:rPr>
              <a:t>reachAQ</a:t>
            </a:r>
          </a:p>
        </p:txBody>
      </p:sp>
      <p:sp>
        <p:nvSpPr>
          <p:cNvPr id="9" name="TextBox 8"/>
          <p:cNvSpPr txBox="1"/>
          <p:nvPr/>
        </p:nvSpPr>
        <p:spPr>
          <a:xfrm>
            <a:off x="658368" y="6382512"/>
            <a:ext cx="10874959" cy="292608"/>
          </a:xfrm>
          <a:prstGeom prst="rect">
            <a:avLst/>
          </a:prstGeom>
          <a:noFill/>
        </p:spPr>
        <p:txBody>
          <a:bodyPr wrap="none">
            <a:spAutoFit/>
          </a:bodyPr>
          <a:lstStyle/>
          <a:p>
            <a:r>
              <a:rPr sz="900" b="0" i="0">
                <a:solidFill>
                  <a:srgbClr val="6B727B"/>
                </a:solidFill>
                <a:latin typeface="Segoe UI"/>
              </a:rPr>
              <a:t>reachAQ</a:t>
            </a:r>
          </a:p>
        </p:txBody>
      </p:sp>
      <p:sp>
        <p:nvSpPr>
          <p:cNvPr id="10" name="TextBox 9"/>
          <p:cNvSpPr txBox="1"/>
          <p:nvPr/>
        </p:nvSpPr>
        <p:spPr>
          <a:xfrm>
            <a:off x="10893247" y="6382512"/>
            <a:ext cx="640080" cy="292608"/>
          </a:xfrm>
          <a:prstGeom prst="rect">
            <a:avLst/>
          </a:prstGeom>
          <a:noFill/>
        </p:spPr>
        <p:txBody>
          <a:bodyPr wrap="none">
            <a:spAutoFit/>
          </a:bodyPr>
          <a:lstStyle/>
          <a:p>
            <a:pPr algn="r"/>
            <a:r>
              <a:rPr sz="900" b="0" i="0">
                <a:solidFill>
                  <a:srgbClr val="6B727B"/>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58368" y="457200"/>
            <a:ext cx="10874959" cy="868680"/>
          </a:xfrm>
        </p:spPr>
        <p:txBody>
          <a:bodyPr wrap="square"/>
          <a:lstStyle/>
          <a:p>
            <a:pPr algn="l"/>
            <a:r>
              <a:rPr sz="3000" b="1" i="0">
                <a:solidFill>
                  <a:srgbClr val="1E242B"/>
                </a:solidFill>
                <a:latin typeface="Segoe UI"/>
              </a:rPr>
              <a:t>What came from auto-trainer</a:t>
            </a:r>
          </a:p>
        </p:txBody>
      </p:sp>
      <p:sp>
        <p:nvSpPr>
          <p:cNvPr id="3" name="Content Placeholder 2"/>
          <p:cNvSpPr>
            <a:spLocks noGrp="1"/>
          </p:cNvSpPr>
          <p:nvPr>
            <p:ph idx="1"/>
          </p:nvPr>
        </p:nvSpPr>
        <p:spPr>
          <a:xfrm>
            <a:off x="658368" y="2057400"/>
            <a:ext cx="10874959" cy="4023360"/>
          </a:xfrm>
        </p:spPr>
        <p:txBody>
          <a:bodyPr wrap="square"/>
          <a:lstStyle/>
          <a:p>
            <a:pPr>
              <a:spcAft>
                <a:spcPts val="1300"/>
              </a:spcAft>
            </a:pPr>
            <a:r>
              <a:rPr sz="1500" b="0" i="0">
                <a:solidFill>
                  <a:srgbClr val="1E242B"/>
                </a:solidFill>
                <a:latin typeface="Segoe UI"/>
              </a:rPr>
              <a:t>The modular package split — core, video, device, inference, behavior, model, pyside — which is why hardware can be swapped without touching the rest</a:t>
            </a:r>
          </a:p>
          <a:p>
            <a:pPr>
              <a:spcAft>
                <a:spcPts val="1300"/>
              </a:spcAft>
            </a:pPr>
            <a:r>
              <a:rPr sz="1500" b="0" i="0">
                <a:solidFill>
                  <a:srgbClr val="1E242B"/>
                </a:solidFill>
                <a:latin typeface="Segoe UI"/>
              </a:rPr>
              <a:t>Per-process video capture with a shared synchronized frame index, so frame N means the same instant on every camera</a:t>
            </a:r>
          </a:p>
          <a:p>
            <a:pPr>
              <a:spcAft>
                <a:spcPts val="1300"/>
              </a:spcAft>
            </a:pPr>
            <a:r>
              <a:rPr sz="1500" b="0" i="0">
                <a:solidFill>
                  <a:srgbClr val="1E242B"/>
                </a:solidFill>
                <a:latin typeface="Segoe UI"/>
              </a:rPr>
              <a:t>Pose inference and FLIR stereo calibration, already integrated into the application rather than run afterwards</a:t>
            </a:r>
          </a:p>
          <a:p>
            <a:pPr>
              <a:spcAft>
                <a:spcPts val="1300"/>
              </a:spcAft>
            </a:pPr>
            <a:r>
              <a:rPr sz="1500" b="0" i="0">
                <a:solidFill>
                  <a:srgbClr val="1E242B"/>
                </a:solidFill>
                <a:latin typeface="Segoe UI"/>
              </a:rPr>
              <a:t>The CAN device abstraction, and the project, session and metadata structure that makes a recording self-describing</a:t>
            </a:r>
          </a:p>
          <a:p>
            <a:pPr>
              <a:spcAft>
                <a:spcPts val="1300"/>
              </a:spcAft>
            </a:pPr>
            <a:r>
              <a:rPr sz="1500" b="0" i="0">
                <a:solidFill>
                  <a:srgbClr val="1E242B"/>
                </a:solidFill>
                <a:latin typeface="Segoe UI"/>
              </a:rPr>
              <a:t>The PySide6 UI layer and its panel patterns</a:t>
            </a:r>
          </a:p>
        </p:txBody>
      </p:sp>
      <p:sp>
        <p:nvSpPr>
          <p:cNvPr id="4" name="Rectangle 3"/>
          <p:cNvSpPr/>
          <p:nvPr/>
        </p:nvSpPr>
        <p:spPr>
          <a:xfrm>
            <a:off x="658368" y="1170432"/>
            <a:ext cx="1005840" cy="38100"/>
          </a:xfrm>
          <a:prstGeom prst="rect">
            <a:avLst/>
          </a:prstGeom>
          <a:solidFill>
            <a:srgbClr val="B35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371600"/>
            <a:ext cx="10874959" cy="457200"/>
          </a:xfrm>
          <a:prstGeom prst="rect">
            <a:avLst/>
          </a:prstGeom>
          <a:noFill/>
        </p:spPr>
        <p:txBody>
          <a:bodyPr wrap="square">
            <a:spAutoFit/>
          </a:bodyPr>
          <a:lstStyle/>
          <a:p>
            <a:r>
              <a:rPr sz="1400" b="0" i="1">
                <a:solidFill>
                  <a:srgbClr val="6B727B"/>
                </a:solidFill>
                <a:latin typeface="Segoe UI"/>
              </a:rPr>
              <a:t>reachAQ is built on auto-trainer, not beside it. The architecture and most of the runtime are theirs.</a:t>
            </a:r>
          </a:p>
        </p:txBody>
      </p:sp>
      <p:sp>
        <p:nvSpPr>
          <p:cNvPr id="6" name="TextBox 5"/>
          <p:cNvSpPr txBox="1"/>
          <p:nvPr/>
        </p:nvSpPr>
        <p:spPr>
          <a:xfrm>
            <a:off x="658368" y="6382512"/>
            <a:ext cx="10874959" cy="292608"/>
          </a:xfrm>
          <a:prstGeom prst="rect">
            <a:avLst/>
          </a:prstGeom>
          <a:noFill/>
        </p:spPr>
        <p:txBody>
          <a:bodyPr wrap="none">
            <a:spAutoFit/>
          </a:bodyPr>
          <a:lstStyle/>
          <a:p>
            <a:r>
              <a:rPr sz="900" b="0" i="0">
                <a:solidFill>
                  <a:srgbClr val="6B727B"/>
                </a:solidFill>
                <a:latin typeface="Segoe UI"/>
              </a:rPr>
              <a:t>reachAQ</a:t>
            </a:r>
          </a:p>
        </p:txBody>
      </p:sp>
      <p:sp>
        <p:nvSpPr>
          <p:cNvPr id="7" name="TextBox 6"/>
          <p:cNvSpPr txBox="1"/>
          <p:nvPr/>
        </p:nvSpPr>
        <p:spPr>
          <a:xfrm>
            <a:off x="10893247" y="6382512"/>
            <a:ext cx="640080" cy="292608"/>
          </a:xfrm>
          <a:prstGeom prst="rect">
            <a:avLst/>
          </a:prstGeom>
          <a:noFill/>
        </p:spPr>
        <p:txBody>
          <a:bodyPr wrap="none">
            <a:spAutoFit/>
          </a:bodyPr>
          <a:lstStyle/>
          <a:p>
            <a:pPr algn="r"/>
            <a:r>
              <a:rPr sz="900" b="0" i="0">
                <a:solidFill>
                  <a:srgbClr val="6B727B"/>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58368" y="457200"/>
            <a:ext cx="10874959" cy="868680"/>
          </a:xfrm>
        </p:spPr>
        <p:txBody>
          <a:bodyPr wrap="square"/>
          <a:lstStyle/>
          <a:p>
            <a:pPr algn="l"/>
            <a:r>
              <a:rPr sz="3000" b="1" i="0">
                <a:solidFill>
                  <a:srgbClr val="1E242B"/>
                </a:solidFill>
                <a:latin typeface="Segoe UI"/>
              </a:rPr>
              <a:t>The budget</a:t>
            </a:r>
          </a:p>
        </p:txBody>
      </p:sp>
      <p:sp>
        <p:nvSpPr>
          <p:cNvPr id="3" name="Content Placeholder 2"/>
          <p:cNvSpPr>
            <a:spLocks noGrp="1"/>
          </p:cNvSpPr>
          <p:nvPr>
            <p:ph idx="1"/>
          </p:nvPr>
        </p:nvSpPr>
        <p:spPr>
          <a:xfrm>
            <a:off x="658368" y="2057400"/>
            <a:ext cx="10874959" cy="4023360"/>
          </a:xfrm>
        </p:spPr>
        <p:txBody>
          <a:bodyPr wrap="square"/>
          <a:lstStyle/>
          <a:p>
            <a:pPr>
              <a:spcAft>
                <a:spcPts val="1300"/>
              </a:spcAft>
            </a:pPr>
            <a:r>
              <a:rPr sz="1500" b="0" i="0">
                <a:solidFill>
                  <a:srgbClr val="1E242B"/>
                </a:solidFill>
                <a:latin typeface="Segoe UI"/>
              </a:rPr>
              <a:t>Reach cameras run at 150 fps — a 6.667 ms per-frame budget for the perception stream</a:t>
            </a:r>
          </a:p>
          <a:p>
            <a:pPr>
              <a:spcAft>
                <a:spcPts val="1300"/>
              </a:spcAft>
            </a:pPr>
            <a:r>
              <a:rPr sz="1500" b="0" i="0">
                <a:solidFill>
                  <a:srgbClr val="1E242B"/>
                </a:solidFill>
                <a:latin typeface="Segoe UI"/>
              </a:rPr>
              <a:t>The stim camera runs at 900 Hz — a 5 ms budget for the reflex loop. That is a design target and a tail figure, not a measured average</a:t>
            </a:r>
          </a:p>
          <a:p>
            <a:pPr>
              <a:spcAft>
                <a:spcPts val="1300"/>
              </a:spcAft>
            </a:pPr>
            <a:r>
              <a:rPr sz="1500" b="0" i="0">
                <a:solidFill>
                  <a:srgbClr val="1E242B"/>
                </a:solidFill>
                <a:latin typeface="Segoe UI"/>
              </a:rPr>
              <a:t>The starting point: the DeepLabCut TensorFlow ResNet-50 pose path cost 54.8 ms per batch, about 18 Hz</a:t>
            </a:r>
          </a:p>
          <a:p>
            <a:pPr>
              <a:spcAft>
                <a:spcPts val="1300"/>
              </a:spcAft>
            </a:pPr>
            <a:r>
              <a:rPr sz="1500" b="0" i="0">
                <a:solidFill>
                  <a:srgbClr val="1E242B"/>
                </a:solidFill>
                <a:latin typeface="Segoe UI"/>
              </a:rPr>
              <a:t>That single number was the largest latency term in the system, and far below camera rate — which is what made pose useless for closing a loop</a:t>
            </a:r>
          </a:p>
        </p:txBody>
      </p:sp>
      <p:sp>
        <p:nvSpPr>
          <p:cNvPr id="4" name="Rectangle 3"/>
          <p:cNvSpPr/>
          <p:nvPr/>
        </p:nvSpPr>
        <p:spPr>
          <a:xfrm>
            <a:off x="658368" y="1170432"/>
            <a:ext cx="1005840" cy="38100"/>
          </a:xfrm>
          <a:prstGeom prst="rect">
            <a:avLst/>
          </a:prstGeom>
          <a:solidFill>
            <a:srgbClr val="B35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371600"/>
            <a:ext cx="10874959" cy="457200"/>
          </a:xfrm>
          <a:prstGeom prst="rect">
            <a:avLst/>
          </a:prstGeom>
          <a:noFill/>
        </p:spPr>
        <p:txBody>
          <a:bodyPr wrap="square">
            <a:spAutoFit/>
          </a:bodyPr>
          <a:lstStyle/>
          <a:p>
            <a:r>
              <a:rPr sz="1400" b="0" i="1">
                <a:solidFill>
                  <a:srgbClr val="6B727B"/>
                </a:solidFill>
                <a:latin typeface="Segoe UI"/>
              </a:rPr>
              <a:t>Two cameras, two clocks, two very different deadlines.</a:t>
            </a:r>
          </a:p>
        </p:txBody>
      </p:sp>
      <p:sp>
        <p:nvSpPr>
          <p:cNvPr id="6" name="TextBox 5"/>
          <p:cNvSpPr txBox="1"/>
          <p:nvPr/>
        </p:nvSpPr>
        <p:spPr>
          <a:xfrm>
            <a:off x="658368" y="6382512"/>
            <a:ext cx="10874959" cy="292608"/>
          </a:xfrm>
          <a:prstGeom prst="rect">
            <a:avLst/>
          </a:prstGeom>
          <a:noFill/>
        </p:spPr>
        <p:txBody>
          <a:bodyPr wrap="none">
            <a:spAutoFit/>
          </a:bodyPr>
          <a:lstStyle/>
          <a:p>
            <a:r>
              <a:rPr sz="900" b="0" i="0">
                <a:solidFill>
                  <a:srgbClr val="6B727B"/>
                </a:solidFill>
                <a:latin typeface="Segoe UI"/>
              </a:rPr>
              <a:t>reachAQ</a:t>
            </a:r>
          </a:p>
        </p:txBody>
      </p:sp>
      <p:sp>
        <p:nvSpPr>
          <p:cNvPr id="7" name="TextBox 6"/>
          <p:cNvSpPr txBox="1"/>
          <p:nvPr/>
        </p:nvSpPr>
        <p:spPr>
          <a:xfrm>
            <a:off x="10893247" y="6382512"/>
            <a:ext cx="640080" cy="292608"/>
          </a:xfrm>
          <a:prstGeom prst="rect">
            <a:avLst/>
          </a:prstGeom>
          <a:noFill/>
        </p:spPr>
        <p:txBody>
          <a:bodyPr wrap="none">
            <a:spAutoFit/>
          </a:bodyPr>
          <a:lstStyle/>
          <a:p>
            <a:pPr algn="r"/>
            <a:r>
              <a:rPr sz="900" b="0" i="0">
                <a:solidFill>
                  <a:srgbClr val="6B727B"/>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58368" y="457200"/>
            <a:ext cx="10874959" cy="868680"/>
          </a:xfrm>
        </p:spPr>
        <p:txBody>
          <a:bodyPr wrap="square"/>
          <a:lstStyle/>
          <a:p>
            <a:pPr algn="l"/>
            <a:r>
              <a:rPr sz="3000" b="1" i="0">
                <a:solidFill>
                  <a:srgbClr val="1E242B"/>
                </a:solidFill>
                <a:latin typeface="Segoe UI"/>
              </a:rPr>
              <a:t>Two tiers, not one fast path</a:t>
            </a:r>
          </a:p>
        </p:txBody>
      </p:sp>
      <p:sp>
        <p:nvSpPr>
          <p:cNvPr id="3" name="Content Placeholder 2"/>
          <p:cNvSpPr>
            <a:spLocks noGrp="1"/>
          </p:cNvSpPr>
          <p:nvPr>
            <p:ph idx="1" sz="half"/>
          </p:nvPr>
        </p:nvSpPr>
        <p:spPr>
          <a:xfrm>
            <a:off x="658368" y="2487168"/>
            <a:ext cx="5186019" cy="3593592"/>
          </a:xfrm>
        </p:spPr>
        <p:txBody>
          <a:bodyPr wrap="square"/>
          <a:lstStyle/>
          <a:p>
            <a:pPr>
              <a:spcAft>
                <a:spcPts val="1100"/>
              </a:spcAft>
            </a:pPr>
            <a:r>
              <a:rPr sz="1350" b="0" i="0">
                <a:solidFill>
                  <a:srgbClr val="1E242B"/>
                </a:solidFill>
                <a:latin typeface="Segoe UI"/>
              </a:rPr>
              <a:t>The stim camera's first-reach detector triggers the laser</a:t>
            </a:r>
          </a:p>
          <a:p>
            <a:pPr>
              <a:spcAft>
                <a:spcPts val="1100"/>
              </a:spcAft>
            </a:pPr>
            <a:r>
              <a:rPr sz="1350" b="0" i="0">
                <a:solidFill>
                  <a:srgbClr val="1E242B"/>
                </a:solidFill>
                <a:latin typeface="Segoe UI"/>
              </a:rPr>
              <a:t>This is the path that genuinely must be fast</a:t>
            </a:r>
          </a:p>
          <a:p>
            <a:pPr>
              <a:spcAft>
                <a:spcPts val="1100"/>
              </a:spcAft>
            </a:pPr>
            <a:r>
              <a:rPr sz="1350" b="0" i="0">
                <a:solidFill>
                  <a:srgbClr val="1E242B"/>
                </a:solidFill>
                <a:latin typeface="Segoe UI"/>
              </a:rPr>
              <a:t>Its own compute is under 0.1 ms, so the work was making the OS deliver it on time, not making it compute less</a:t>
            </a:r>
          </a:p>
        </p:txBody>
      </p:sp>
      <p:sp>
        <p:nvSpPr>
          <p:cNvPr id="4" name="Content Placeholder 3"/>
          <p:cNvSpPr>
            <a:spLocks noGrp="1"/>
          </p:cNvSpPr>
          <p:nvPr>
            <p:ph idx="2" sz="half"/>
          </p:nvPr>
        </p:nvSpPr>
        <p:spPr>
          <a:xfrm>
            <a:off x="6347307" y="2487168"/>
            <a:ext cx="5186019" cy="3593592"/>
          </a:xfrm>
        </p:spPr>
        <p:txBody>
          <a:bodyPr wrap="square"/>
          <a:lstStyle/>
          <a:p>
            <a:pPr>
              <a:spcAft>
                <a:spcPts val="1100"/>
              </a:spcAft>
            </a:pPr>
            <a:r>
              <a:rPr sz="1350" b="0" i="0">
                <a:solidFill>
                  <a:srgbClr val="1E242B"/>
                </a:solidFill>
                <a:latin typeface="Segoe UI"/>
              </a:rPr>
              <a:t>The reach-camera pose stream, informing behaviour and gating</a:t>
            </a:r>
          </a:p>
          <a:p>
            <a:pPr>
              <a:spcAft>
                <a:spcPts val="1100"/>
              </a:spcAft>
            </a:pPr>
            <a:r>
              <a:rPr sz="1350" b="0" i="0">
                <a:solidFill>
                  <a:srgbClr val="1E242B"/>
                </a:solidFill>
                <a:latin typeface="Segoe UI"/>
              </a:rPr>
              <a:t>It does not have to hit camera rate to be useful</a:t>
            </a:r>
          </a:p>
          <a:p>
            <a:pPr>
              <a:spcAft>
                <a:spcPts val="1100"/>
              </a:spcAft>
            </a:pPr>
            <a:r>
              <a:rPr sz="1350" b="0" i="0">
                <a:solidFill>
                  <a:srgbClr val="1E242B"/>
                </a:solidFill>
                <a:latin typeface="Segoe UI"/>
              </a:rPr>
              <a:t>Accepting that is what let an accuracy decision beat a raw-speed one</a:t>
            </a:r>
          </a:p>
        </p:txBody>
      </p:sp>
      <p:sp>
        <p:nvSpPr>
          <p:cNvPr id="5" name="Rectangle 4"/>
          <p:cNvSpPr/>
          <p:nvPr/>
        </p:nvSpPr>
        <p:spPr>
          <a:xfrm>
            <a:off x="658368" y="1170432"/>
            <a:ext cx="1005840" cy="38100"/>
          </a:xfrm>
          <a:prstGeom prst="rect">
            <a:avLst/>
          </a:prstGeom>
          <a:solidFill>
            <a:srgbClr val="B35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371600"/>
            <a:ext cx="10874959" cy="457200"/>
          </a:xfrm>
          <a:prstGeom prst="rect">
            <a:avLst/>
          </a:prstGeom>
          <a:noFill/>
        </p:spPr>
        <p:txBody>
          <a:bodyPr wrap="square">
            <a:spAutoFit/>
          </a:bodyPr>
          <a:lstStyle/>
          <a:p>
            <a:r>
              <a:rPr sz="1400" b="0" i="1">
                <a:solidFill>
                  <a:srgbClr val="6B727B"/>
                </a:solidFill>
                <a:latin typeface="Segoe UI"/>
              </a:rPr>
              <a:t>We did not make one model fast enough for everything. We separated the millisecond-critical reflex from the perception stream and optimised each to its own budget.</a:t>
            </a:r>
          </a:p>
        </p:txBody>
      </p:sp>
      <p:sp>
        <p:nvSpPr>
          <p:cNvPr id="7" name="TextBox 6"/>
          <p:cNvSpPr txBox="1"/>
          <p:nvPr/>
        </p:nvSpPr>
        <p:spPr>
          <a:xfrm>
            <a:off x="658368" y="2103120"/>
            <a:ext cx="5186019" cy="347472"/>
          </a:xfrm>
          <a:prstGeom prst="rect">
            <a:avLst/>
          </a:prstGeom>
          <a:noFill/>
        </p:spPr>
        <p:txBody>
          <a:bodyPr wrap="none">
            <a:spAutoFit/>
          </a:bodyPr>
          <a:lstStyle/>
          <a:p>
            <a:r>
              <a:rPr sz="1500" b="1" i="0">
                <a:solidFill>
                  <a:srgbClr val="6B7F9E"/>
                </a:solidFill>
                <a:latin typeface="Segoe UI"/>
              </a:rPr>
              <a:t>Tier 1 — reflex</a:t>
            </a:r>
          </a:p>
        </p:txBody>
      </p:sp>
      <p:sp>
        <p:nvSpPr>
          <p:cNvPr id="8" name="TextBox 7"/>
          <p:cNvSpPr txBox="1"/>
          <p:nvPr/>
        </p:nvSpPr>
        <p:spPr>
          <a:xfrm>
            <a:off x="6347307" y="2103120"/>
            <a:ext cx="5186019" cy="347472"/>
          </a:xfrm>
          <a:prstGeom prst="rect">
            <a:avLst/>
          </a:prstGeom>
          <a:noFill/>
        </p:spPr>
        <p:txBody>
          <a:bodyPr wrap="none">
            <a:spAutoFit/>
          </a:bodyPr>
          <a:lstStyle/>
          <a:p>
            <a:r>
              <a:rPr sz="1500" b="1" i="0">
                <a:solidFill>
                  <a:srgbClr val="B3593F"/>
                </a:solidFill>
                <a:latin typeface="Segoe UI"/>
              </a:rPr>
              <a:t>Tier 2 — perception</a:t>
            </a:r>
          </a:p>
        </p:txBody>
      </p:sp>
      <p:sp>
        <p:nvSpPr>
          <p:cNvPr id="9" name="TextBox 8"/>
          <p:cNvSpPr txBox="1"/>
          <p:nvPr/>
        </p:nvSpPr>
        <p:spPr>
          <a:xfrm>
            <a:off x="658368" y="6382512"/>
            <a:ext cx="10874959" cy="292608"/>
          </a:xfrm>
          <a:prstGeom prst="rect">
            <a:avLst/>
          </a:prstGeom>
          <a:noFill/>
        </p:spPr>
        <p:txBody>
          <a:bodyPr wrap="none">
            <a:spAutoFit/>
          </a:bodyPr>
          <a:lstStyle/>
          <a:p>
            <a:r>
              <a:rPr sz="900" b="0" i="0">
                <a:solidFill>
                  <a:srgbClr val="6B727B"/>
                </a:solidFill>
                <a:latin typeface="Segoe UI"/>
              </a:rPr>
              <a:t>reachAQ</a:t>
            </a:r>
          </a:p>
        </p:txBody>
      </p:sp>
      <p:sp>
        <p:nvSpPr>
          <p:cNvPr id="10" name="TextBox 9"/>
          <p:cNvSpPr txBox="1"/>
          <p:nvPr/>
        </p:nvSpPr>
        <p:spPr>
          <a:xfrm>
            <a:off x="10893247" y="6382512"/>
            <a:ext cx="640080" cy="292608"/>
          </a:xfrm>
          <a:prstGeom prst="rect">
            <a:avLst/>
          </a:prstGeom>
          <a:noFill/>
        </p:spPr>
        <p:txBody>
          <a:bodyPr wrap="none">
            <a:spAutoFit/>
          </a:bodyPr>
          <a:lstStyle/>
          <a:p>
            <a:pPr algn="r"/>
            <a:r>
              <a:rPr sz="900" b="0" i="0">
                <a:solidFill>
                  <a:srgbClr val="6B727B"/>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58368" y="457200"/>
            <a:ext cx="10874959" cy="868680"/>
          </a:xfrm>
        </p:spPr>
        <p:txBody>
          <a:bodyPr wrap="square"/>
          <a:lstStyle/>
          <a:p>
            <a:pPr algn="l"/>
            <a:r>
              <a:rPr sz="3000" b="1" i="0">
                <a:solidFill>
                  <a:srgbClr val="1E242B"/>
                </a:solidFill>
                <a:latin typeface="Segoe UI"/>
              </a:rPr>
              <a:t>Tier 1 — making the reflex land on time</a:t>
            </a:r>
          </a:p>
        </p:txBody>
      </p:sp>
      <p:sp>
        <p:nvSpPr>
          <p:cNvPr id="3" name="Rectangle 2"/>
          <p:cNvSpPr/>
          <p:nvPr/>
        </p:nvSpPr>
        <p:spPr>
          <a:xfrm>
            <a:off x="658368" y="1170432"/>
            <a:ext cx="1005840" cy="38100"/>
          </a:xfrm>
          <a:prstGeom prst="rect">
            <a:avLst/>
          </a:prstGeom>
          <a:solidFill>
            <a:srgbClr val="B35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1371600"/>
            <a:ext cx="10874959" cy="457200"/>
          </a:xfrm>
          <a:prstGeom prst="rect">
            <a:avLst/>
          </a:prstGeom>
          <a:noFill/>
        </p:spPr>
        <p:txBody>
          <a:bodyPr wrap="square">
            <a:spAutoFit/>
          </a:bodyPr>
          <a:lstStyle/>
          <a:p>
            <a:r>
              <a:rPr sz="1400" b="0" i="1">
                <a:solidFill>
                  <a:srgbClr val="6B727B"/>
                </a:solidFill>
                <a:latin typeface="Segoe UI"/>
              </a:rPr>
              <a:t>The detector's own compute never exceeds 0.09 ms. The entire problem was scheduler wake-up latency under load.</a:t>
            </a:r>
          </a:p>
        </p:txBody>
      </p:sp>
      <p:pic>
        <p:nvPicPr>
          <p:cNvPr id="5" name="Picture 4" descr="stim_latency.png"/>
          <p:cNvPicPr>
            <a:picLocks noChangeAspect="1"/>
          </p:cNvPicPr>
          <p:nvPr/>
        </p:nvPicPr>
        <p:blipFill>
          <a:blip r:embed="rId2"/>
          <a:stretch>
            <a:fillRect/>
          </a:stretch>
        </p:blipFill>
        <p:spPr>
          <a:xfrm>
            <a:off x="2092711" y="1847088"/>
            <a:ext cx="8006272" cy="3822192"/>
          </a:xfrm>
          <a:prstGeom prst="rect">
            <a:avLst/>
          </a:prstGeom>
        </p:spPr>
      </p:pic>
      <p:sp>
        <p:nvSpPr>
          <p:cNvPr id="6" name="TextBox 5"/>
          <p:cNvSpPr txBox="1"/>
          <p:nvPr/>
        </p:nvSpPr>
        <p:spPr>
          <a:xfrm>
            <a:off x="658368" y="5797296"/>
            <a:ext cx="10874959" cy="502920"/>
          </a:xfrm>
          <a:prstGeom prst="rect">
            <a:avLst/>
          </a:prstGeom>
          <a:noFill/>
        </p:spPr>
        <p:txBody>
          <a:bodyPr wrap="square">
            <a:spAutoFit/>
          </a:bodyPr>
          <a:lstStyle/>
          <a:p>
            <a:pPr algn="ctr"/>
            <a:r>
              <a:rPr sz="1150" b="0" i="1">
                <a:solidFill>
                  <a:srgbClr val="6B727B"/>
                </a:solidFill>
                <a:latin typeface="Segoe UI"/>
              </a:rPr>
              <a:t>Under a 16-process load, real-time scheduling took the worst case from 6.05 ms to 0.155 ms, with zero missed deadlines and the full 900 Hz cadence restored.</a:t>
            </a:r>
          </a:p>
        </p:txBody>
      </p:sp>
      <p:sp>
        <p:nvSpPr>
          <p:cNvPr id="7" name="TextBox 6"/>
          <p:cNvSpPr txBox="1"/>
          <p:nvPr/>
        </p:nvSpPr>
        <p:spPr>
          <a:xfrm>
            <a:off x="658368" y="6382512"/>
            <a:ext cx="10874959" cy="292608"/>
          </a:xfrm>
          <a:prstGeom prst="rect">
            <a:avLst/>
          </a:prstGeom>
          <a:noFill/>
        </p:spPr>
        <p:txBody>
          <a:bodyPr wrap="none">
            <a:spAutoFit/>
          </a:bodyPr>
          <a:lstStyle/>
          <a:p>
            <a:r>
              <a:rPr sz="900" b="0" i="0">
                <a:solidFill>
                  <a:srgbClr val="6B727B"/>
                </a:solidFill>
                <a:latin typeface="Segoe UI"/>
              </a:rPr>
              <a:t>reachAQ</a:t>
            </a:r>
          </a:p>
        </p:txBody>
      </p:sp>
      <p:sp>
        <p:nvSpPr>
          <p:cNvPr id="8" name="TextBox 7"/>
          <p:cNvSpPr txBox="1"/>
          <p:nvPr/>
        </p:nvSpPr>
        <p:spPr>
          <a:xfrm>
            <a:off x="10893247" y="6382512"/>
            <a:ext cx="640080" cy="292608"/>
          </a:xfrm>
          <a:prstGeom prst="rect">
            <a:avLst/>
          </a:prstGeom>
          <a:noFill/>
        </p:spPr>
        <p:txBody>
          <a:bodyPr wrap="none">
            <a:spAutoFit/>
          </a:bodyPr>
          <a:lstStyle/>
          <a:p>
            <a:pPr algn="r"/>
            <a:r>
              <a:rPr sz="900" b="0" i="0">
                <a:solidFill>
                  <a:srgbClr val="6B727B"/>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58368" y="457200"/>
            <a:ext cx="10874959" cy="868680"/>
          </a:xfrm>
        </p:spPr>
        <p:txBody>
          <a:bodyPr wrap="square"/>
          <a:lstStyle/>
          <a:p>
            <a:pPr algn="l"/>
            <a:r>
              <a:rPr sz="3000" b="1" i="0">
                <a:solidFill>
                  <a:srgbClr val="1E242B"/>
                </a:solidFill>
                <a:latin typeface="Segoe UI"/>
              </a:rPr>
              <a:t>Tier 2 — where the milliseconds went</a:t>
            </a:r>
          </a:p>
        </p:txBody>
      </p:sp>
      <p:sp>
        <p:nvSpPr>
          <p:cNvPr id="3" name="Rectangle 2"/>
          <p:cNvSpPr/>
          <p:nvPr/>
        </p:nvSpPr>
        <p:spPr>
          <a:xfrm>
            <a:off x="658368" y="1170432"/>
            <a:ext cx="1005840" cy="38100"/>
          </a:xfrm>
          <a:prstGeom prst="rect">
            <a:avLst/>
          </a:prstGeom>
          <a:solidFill>
            <a:srgbClr val="B35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1371600"/>
            <a:ext cx="10874959" cy="457200"/>
          </a:xfrm>
          <a:prstGeom prst="rect">
            <a:avLst/>
          </a:prstGeom>
          <a:noFill/>
        </p:spPr>
        <p:txBody>
          <a:bodyPr wrap="square">
            <a:spAutoFit/>
          </a:bodyPr>
          <a:lstStyle/>
          <a:p>
            <a:r>
              <a:rPr sz="1400" b="0" i="1">
                <a:solidFill>
                  <a:srgbClr val="6B727B"/>
                </a:solidFill>
                <a:latin typeface="Segoe UI"/>
              </a:rPr>
              <a:t>The speed came from removing our own overhead and choosing the right architecture.</a:t>
            </a:r>
          </a:p>
        </p:txBody>
      </p:sp>
      <p:pic>
        <p:nvPicPr>
          <p:cNvPr id="5" name="Picture 4" descr="inference_ladder.png"/>
          <p:cNvPicPr>
            <a:picLocks noChangeAspect="1"/>
          </p:cNvPicPr>
          <p:nvPr/>
        </p:nvPicPr>
        <p:blipFill>
          <a:blip r:embed="rId2"/>
          <a:stretch>
            <a:fillRect/>
          </a:stretch>
        </p:blipFill>
        <p:spPr>
          <a:xfrm>
            <a:off x="911580" y="1847088"/>
            <a:ext cx="10368534" cy="3822192"/>
          </a:xfrm>
          <a:prstGeom prst="rect">
            <a:avLst/>
          </a:prstGeom>
        </p:spPr>
      </p:pic>
      <p:sp>
        <p:nvSpPr>
          <p:cNvPr id="6" name="TextBox 5"/>
          <p:cNvSpPr txBox="1"/>
          <p:nvPr/>
        </p:nvSpPr>
        <p:spPr>
          <a:xfrm>
            <a:off x="658368" y="5797296"/>
            <a:ext cx="10874959" cy="502920"/>
          </a:xfrm>
          <a:prstGeom prst="rect">
            <a:avLst/>
          </a:prstGeom>
          <a:noFill/>
        </p:spPr>
        <p:txBody>
          <a:bodyPr wrap="square">
            <a:spAutoFit/>
          </a:bodyPr>
          <a:lstStyle/>
          <a:p>
            <a:pPr algn="ctr"/>
            <a:r>
              <a:rPr sz="1150" b="0" i="1">
                <a:solidFill>
                  <a:srgbClr val="6B727B"/>
                </a:solidFill>
                <a:latin typeface="Segoe UI"/>
              </a:rPr>
              <a:t>Colour is status, not just result. The mobile-class backbone was measured at about 8x and deliberately not adopted — its confidence does not predict accuracy, which would break the 3D confidence gate.</a:t>
            </a:r>
          </a:p>
        </p:txBody>
      </p:sp>
      <p:sp>
        <p:nvSpPr>
          <p:cNvPr id="7" name="TextBox 6"/>
          <p:cNvSpPr txBox="1"/>
          <p:nvPr/>
        </p:nvSpPr>
        <p:spPr>
          <a:xfrm>
            <a:off x="658368" y="6382512"/>
            <a:ext cx="10874959" cy="292608"/>
          </a:xfrm>
          <a:prstGeom prst="rect">
            <a:avLst/>
          </a:prstGeom>
          <a:noFill/>
        </p:spPr>
        <p:txBody>
          <a:bodyPr wrap="none">
            <a:spAutoFit/>
          </a:bodyPr>
          <a:lstStyle/>
          <a:p>
            <a:r>
              <a:rPr sz="900" b="0" i="0">
                <a:solidFill>
                  <a:srgbClr val="6B727B"/>
                </a:solidFill>
                <a:latin typeface="Segoe UI"/>
              </a:rPr>
              <a:t>reachAQ</a:t>
            </a:r>
          </a:p>
        </p:txBody>
      </p:sp>
      <p:sp>
        <p:nvSpPr>
          <p:cNvPr id="8" name="TextBox 7"/>
          <p:cNvSpPr txBox="1"/>
          <p:nvPr/>
        </p:nvSpPr>
        <p:spPr>
          <a:xfrm>
            <a:off x="10893247" y="6382512"/>
            <a:ext cx="640080" cy="292608"/>
          </a:xfrm>
          <a:prstGeom prst="rect">
            <a:avLst/>
          </a:prstGeom>
          <a:noFill/>
        </p:spPr>
        <p:txBody>
          <a:bodyPr wrap="none">
            <a:spAutoFit/>
          </a:bodyPr>
          <a:lstStyle/>
          <a:p>
            <a:pPr algn="r"/>
            <a:r>
              <a:rPr sz="900" b="0" i="0">
                <a:solidFill>
                  <a:srgbClr val="6B727B"/>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58368" y="457200"/>
            <a:ext cx="10874959" cy="868680"/>
          </a:xfrm>
        </p:spPr>
        <p:txBody>
          <a:bodyPr wrap="square"/>
          <a:lstStyle/>
          <a:p>
            <a:pPr algn="l"/>
            <a:r>
              <a:rPr sz="3000" b="1" i="0">
                <a:solidFill>
                  <a:srgbClr val="1E242B"/>
                </a:solidFill>
                <a:latin typeface="Segoe UI"/>
              </a:rPr>
              <a:t>One OS setting was worth six more milliseconds</a:t>
            </a:r>
          </a:p>
        </p:txBody>
      </p:sp>
      <p:sp>
        <p:nvSpPr>
          <p:cNvPr id="3" name="Rectangle 2"/>
          <p:cNvSpPr/>
          <p:nvPr/>
        </p:nvSpPr>
        <p:spPr>
          <a:xfrm>
            <a:off x="658368" y="1170432"/>
            <a:ext cx="1005840" cy="38100"/>
          </a:xfrm>
          <a:prstGeom prst="rect">
            <a:avLst/>
          </a:prstGeom>
          <a:solidFill>
            <a:srgbClr val="B35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1371600"/>
            <a:ext cx="10874959" cy="457200"/>
          </a:xfrm>
          <a:prstGeom prst="rect">
            <a:avLst/>
          </a:prstGeom>
          <a:noFill/>
        </p:spPr>
        <p:txBody>
          <a:bodyPr wrap="square">
            <a:spAutoFit/>
          </a:bodyPr>
          <a:lstStyle/>
          <a:p>
            <a:r>
              <a:rPr sz="1400" b="0" i="1">
                <a:solidFill>
                  <a:srgbClr val="6B727B"/>
                </a:solidFill>
                <a:latin typeface="Segoe UI"/>
              </a:rPr>
              <a:t>Same hardware, same model, same batch. Only the CPU governor changed.</a:t>
            </a:r>
          </a:p>
        </p:txBody>
      </p:sp>
      <p:pic>
        <p:nvPicPr>
          <p:cNvPr id="5" name="Picture 4" descr="inference_latency.png"/>
          <p:cNvPicPr>
            <a:picLocks noChangeAspect="1"/>
          </p:cNvPicPr>
          <p:nvPr/>
        </p:nvPicPr>
        <p:blipFill>
          <a:blip r:embed="rId2"/>
          <a:stretch>
            <a:fillRect/>
          </a:stretch>
        </p:blipFill>
        <p:spPr>
          <a:xfrm>
            <a:off x="1417038" y="1847088"/>
            <a:ext cx="9357619" cy="3822192"/>
          </a:xfrm>
          <a:prstGeom prst="rect">
            <a:avLst/>
          </a:prstGeom>
        </p:spPr>
      </p:pic>
      <p:sp>
        <p:nvSpPr>
          <p:cNvPr id="6" name="TextBox 5"/>
          <p:cNvSpPr txBox="1"/>
          <p:nvPr/>
        </p:nvSpPr>
        <p:spPr>
          <a:xfrm>
            <a:off x="658368" y="5797296"/>
            <a:ext cx="10874959" cy="502920"/>
          </a:xfrm>
          <a:prstGeom prst="rect">
            <a:avLst/>
          </a:prstGeom>
          <a:noFill/>
        </p:spPr>
        <p:txBody>
          <a:bodyPr wrap="square">
            <a:spAutoFit/>
          </a:bodyPr>
          <a:lstStyle/>
          <a:p>
            <a:pPr algn="ctr"/>
            <a:r>
              <a:rPr sz="1150" b="0" i="1">
                <a:solidFill>
                  <a:srgbClr val="6B727B"/>
                </a:solidFill>
                <a:latin typeface="Segoe UI"/>
              </a:rPr>
              <a:t>powersave held the P-cores near 2700 MHz against a 5000 MHz ceiling. The installer now sets performance, because the default cost more than half the win.</a:t>
            </a:r>
          </a:p>
        </p:txBody>
      </p:sp>
      <p:sp>
        <p:nvSpPr>
          <p:cNvPr id="7" name="TextBox 6"/>
          <p:cNvSpPr txBox="1"/>
          <p:nvPr/>
        </p:nvSpPr>
        <p:spPr>
          <a:xfrm>
            <a:off x="658368" y="6382512"/>
            <a:ext cx="10874959" cy="292608"/>
          </a:xfrm>
          <a:prstGeom prst="rect">
            <a:avLst/>
          </a:prstGeom>
          <a:noFill/>
        </p:spPr>
        <p:txBody>
          <a:bodyPr wrap="none">
            <a:spAutoFit/>
          </a:bodyPr>
          <a:lstStyle/>
          <a:p>
            <a:r>
              <a:rPr sz="900" b="0" i="0">
                <a:solidFill>
                  <a:srgbClr val="6B727B"/>
                </a:solidFill>
                <a:latin typeface="Segoe UI"/>
              </a:rPr>
              <a:t>reachAQ</a:t>
            </a:r>
          </a:p>
        </p:txBody>
      </p:sp>
      <p:sp>
        <p:nvSpPr>
          <p:cNvPr id="8" name="TextBox 7"/>
          <p:cNvSpPr txBox="1"/>
          <p:nvPr/>
        </p:nvSpPr>
        <p:spPr>
          <a:xfrm>
            <a:off x="10893247" y="6382512"/>
            <a:ext cx="640080" cy="292608"/>
          </a:xfrm>
          <a:prstGeom prst="rect">
            <a:avLst/>
          </a:prstGeom>
          <a:noFill/>
        </p:spPr>
        <p:txBody>
          <a:bodyPr wrap="none">
            <a:spAutoFit/>
          </a:bodyPr>
          <a:lstStyle/>
          <a:p>
            <a:pPr algn="r"/>
            <a:r>
              <a:rPr sz="900" b="0" i="0">
                <a:solidFill>
                  <a:srgbClr val="6B727B"/>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58368" y="457200"/>
            <a:ext cx="10874959" cy="868680"/>
          </a:xfrm>
        </p:spPr>
        <p:txBody>
          <a:bodyPr wrap="square"/>
          <a:lstStyle/>
          <a:p>
            <a:pPr algn="l"/>
            <a:r>
              <a:rPr sz="3000" b="1" i="0">
                <a:solidFill>
                  <a:srgbClr val="1E242B"/>
                </a:solidFill>
                <a:latin typeface="Segoe UI"/>
              </a:rPr>
              <a:t>Running below camera rate is safe by design</a:t>
            </a:r>
          </a:p>
        </p:txBody>
      </p:sp>
      <p:sp>
        <p:nvSpPr>
          <p:cNvPr id="3" name="Content Placeholder 2"/>
          <p:cNvSpPr>
            <a:spLocks noGrp="1"/>
          </p:cNvSpPr>
          <p:nvPr>
            <p:ph idx="1"/>
          </p:nvPr>
        </p:nvSpPr>
        <p:spPr>
          <a:xfrm>
            <a:off x="658368" y="2057400"/>
            <a:ext cx="10874959" cy="4023360"/>
          </a:xfrm>
        </p:spPr>
        <p:txBody>
          <a:bodyPr wrap="square"/>
          <a:lstStyle/>
          <a:p>
            <a:pPr>
              <a:spcAft>
                <a:spcPts val="1300"/>
              </a:spcAft>
            </a:pPr>
            <a:r>
              <a:rPr sz="1500" b="0" i="0">
                <a:solidFill>
                  <a:srgbClr val="1E242B"/>
                </a:solidFill>
                <a:latin typeface="Segoe UI"/>
              </a:rPr>
              <a:t>Non-blocking backpressure — the 150 fps capture loop hands frames to inference on a separate queue from recording, so a slow pose stage can never stall acquisition or cost a recorded frame. Slowness costs inference work only</a:t>
            </a:r>
          </a:p>
          <a:p>
            <a:pPr>
              <a:spcAft>
                <a:spcPts val="1300"/>
              </a:spcAft>
            </a:pPr>
            <a:r>
              <a:rPr sz="1500" b="0" i="0">
                <a:solidFill>
                  <a:srgbClr val="1E242B"/>
                </a:solidFill>
                <a:latin typeface="Segoe UI"/>
              </a:rPr>
              <a:t>Freshness drain — inference always takes the newest queued frame and drops stale ones, so latency never grows into a backlog</a:t>
            </a:r>
          </a:p>
          <a:p>
            <a:pPr>
              <a:spcAft>
                <a:spcPts val="1300"/>
              </a:spcAft>
            </a:pPr>
            <a:r>
              <a:rPr sz="1500" b="0" i="0">
                <a:solidFill>
                  <a:srgbClr val="1E242B"/>
                </a:solidFill>
                <a:latin typeface="Segoe UI"/>
              </a:rPr>
              <a:t>That drain removed up to a full predict period of buffer-sitting: end-to-end went from 17.6 to 13.9 ms, and frames the loop could not hand over fell from 35.2% to 0.7%</a:t>
            </a:r>
          </a:p>
          <a:p>
            <a:pPr>
              <a:spcAft>
                <a:spcPts val="1300"/>
              </a:spcAft>
            </a:pPr>
            <a:r>
              <a:rPr sz="1500" b="0" i="0">
                <a:solidFill>
                  <a:srgbClr val="1E242B"/>
                </a:solidFill>
                <a:latin typeface="Segoe UI"/>
              </a:rPr>
              <a:t>Both are always on, and neither depends on which backend or model is configured</a:t>
            </a:r>
          </a:p>
        </p:txBody>
      </p:sp>
      <p:sp>
        <p:nvSpPr>
          <p:cNvPr id="4" name="Rectangle 3"/>
          <p:cNvSpPr/>
          <p:nvPr/>
        </p:nvSpPr>
        <p:spPr>
          <a:xfrm>
            <a:off x="658368" y="1170432"/>
            <a:ext cx="1005840" cy="38100"/>
          </a:xfrm>
          <a:prstGeom prst="rect">
            <a:avLst/>
          </a:prstGeom>
          <a:solidFill>
            <a:srgbClr val="B35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371600"/>
            <a:ext cx="10874959" cy="457200"/>
          </a:xfrm>
          <a:prstGeom prst="rect">
            <a:avLst/>
          </a:prstGeom>
          <a:noFill/>
        </p:spPr>
        <p:txBody>
          <a:bodyPr wrap="square">
            <a:spAutoFit/>
          </a:bodyPr>
          <a:lstStyle/>
          <a:p>
            <a:r>
              <a:rPr sz="1400" b="0" i="1">
                <a:solidFill>
                  <a:srgbClr val="6B727B"/>
                </a:solidFill>
                <a:latin typeface="Segoe UI"/>
              </a:rPr>
              <a:t>The pose tier is allowed to be slower than the cameras, because it cannot hold them up.</a:t>
            </a:r>
          </a:p>
        </p:txBody>
      </p:sp>
      <p:sp>
        <p:nvSpPr>
          <p:cNvPr id="6" name="TextBox 5"/>
          <p:cNvSpPr txBox="1"/>
          <p:nvPr/>
        </p:nvSpPr>
        <p:spPr>
          <a:xfrm>
            <a:off x="658368" y="6382512"/>
            <a:ext cx="10874959" cy="292608"/>
          </a:xfrm>
          <a:prstGeom prst="rect">
            <a:avLst/>
          </a:prstGeom>
          <a:noFill/>
        </p:spPr>
        <p:txBody>
          <a:bodyPr wrap="none">
            <a:spAutoFit/>
          </a:bodyPr>
          <a:lstStyle/>
          <a:p>
            <a:r>
              <a:rPr sz="900" b="0" i="0">
                <a:solidFill>
                  <a:srgbClr val="6B727B"/>
                </a:solidFill>
                <a:latin typeface="Segoe UI"/>
              </a:rPr>
              <a:t>reachAQ</a:t>
            </a:r>
          </a:p>
        </p:txBody>
      </p:sp>
      <p:sp>
        <p:nvSpPr>
          <p:cNvPr id="7" name="TextBox 6"/>
          <p:cNvSpPr txBox="1"/>
          <p:nvPr/>
        </p:nvSpPr>
        <p:spPr>
          <a:xfrm>
            <a:off x="10893247" y="6382512"/>
            <a:ext cx="640080" cy="292608"/>
          </a:xfrm>
          <a:prstGeom prst="rect">
            <a:avLst/>
          </a:prstGeom>
          <a:noFill/>
        </p:spPr>
        <p:txBody>
          <a:bodyPr wrap="none">
            <a:spAutoFit/>
          </a:bodyPr>
          <a:lstStyle/>
          <a:p>
            <a:pPr algn="r"/>
            <a:r>
              <a:rPr sz="900" b="0" i="0">
                <a:solidFill>
                  <a:srgbClr val="6B727B"/>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58368" y="457200"/>
            <a:ext cx="10874959" cy="868680"/>
          </a:xfrm>
        </p:spPr>
        <p:txBody>
          <a:bodyPr wrap="square"/>
          <a:lstStyle/>
          <a:p>
            <a:pPr algn="l"/>
            <a:r>
              <a:rPr sz="3000" b="1" i="0">
                <a:solidFill>
                  <a:srgbClr val="1E242B"/>
                </a:solidFill>
                <a:latin typeface="Segoe UI"/>
              </a:rPr>
              <a:t>Benchmarked, and not taken</a:t>
            </a:r>
          </a:p>
        </p:txBody>
      </p:sp>
      <p:sp>
        <p:nvSpPr>
          <p:cNvPr id="3" name="Content Placeholder 2"/>
          <p:cNvSpPr>
            <a:spLocks noGrp="1"/>
          </p:cNvSpPr>
          <p:nvPr>
            <p:ph idx="1"/>
          </p:nvPr>
        </p:nvSpPr>
        <p:spPr>
          <a:xfrm>
            <a:off x="658368" y="2057400"/>
            <a:ext cx="10874959" cy="4023360"/>
          </a:xfrm>
        </p:spPr>
        <p:txBody>
          <a:bodyPr wrap="square"/>
          <a:lstStyle/>
          <a:p>
            <a:pPr>
              <a:spcAft>
                <a:spcPts val="1300"/>
              </a:spcAft>
            </a:pPr>
            <a:r>
              <a:rPr sz="1500" b="0" i="0">
                <a:solidFill>
                  <a:srgbClr val="1E242B"/>
                </a:solidFill>
                <a:latin typeface="Segoe UI"/>
              </a:rPr>
              <a:t>fp16 / mixed precision — 3 to 4x slower on this card. The T1000 has no tensor cores, so the default stays fp32</a:t>
            </a:r>
          </a:p>
          <a:p>
            <a:pPr>
              <a:spcAft>
                <a:spcPts val="1300"/>
              </a:spcAft>
            </a:pPr>
            <a:r>
              <a:rPr sz="1500" b="0" i="0">
                <a:solidFill>
                  <a:srgbClr val="1E242B"/>
                </a:solidFill>
                <a:latin typeface="Segoe UI"/>
              </a:rPr>
              <a:t>torch.compile — about 0.99x, and slower on the larger model</a:t>
            </a:r>
          </a:p>
          <a:p>
            <a:pPr>
              <a:spcAft>
                <a:spcPts val="1300"/>
              </a:spcAft>
            </a:pPr>
            <a:r>
              <a:rPr sz="1500" b="0" i="0">
                <a:solidFill>
                  <a:srgbClr val="1E242B"/>
                </a:solidFill>
                <a:latin typeface="Segoe UI"/>
              </a:rPr>
              <a:t>ONNX Runtime on CUDA — matches PyTorch at 0.99x</a:t>
            </a:r>
          </a:p>
          <a:p>
            <a:pPr>
              <a:spcAft>
                <a:spcPts val="1300"/>
              </a:spcAft>
            </a:pPr>
            <a:r>
              <a:rPr sz="1500" b="0" i="0">
                <a:solidFill>
                  <a:srgbClr val="1E242B"/>
                </a:solidFill>
                <a:latin typeface="Segoe UI"/>
              </a:rPr>
              <a:t>TensorRT — a real 1.30 to 1.36x, the only external-runtime win, rejected on cost: per-model export, per-card engine builds, 6.4 GB of libraries, a second inference path and a CUDA-version reconciliation</a:t>
            </a:r>
          </a:p>
          <a:p>
            <a:pPr>
              <a:spcAft>
                <a:spcPts val="1300"/>
              </a:spcAft>
            </a:pPr>
            <a:r>
              <a:rPr sz="1500" b="0" i="0">
                <a:solidFill>
                  <a:srgbClr val="1E242B"/>
                </a:solidFill>
                <a:latin typeface="Segoe UI"/>
              </a:rPr>
              <a:t>The honest summary: the speed came from removing our own overhead and picking the right architecture, not from a magic runtime</a:t>
            </a:r>
          </a:p>
        </p:txBody>
      </p:sp>
      <p:sp>
        <p:nvSpPr>
          <p:cNvPr id="4" name="Rectangle 3"/>
          <p:cNvSpPr/>
          <p:nvPr/>
        </p:nvSpPr>
        <p:spPr>
          <a:xfrm>
            <a:off x="658368" y="1170432"/>
            <a:ext cx="1005840" cy="38100"/>
          </a:xfrm>
          <a:prstGeom prst="rect">
            <a:avLst/>
          </a:prstGeom>
          <a:solidFill>
            <a:srgbClr val="B35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371600"/>
            <a:ext cx="10874959" cy="457200"/>
          </a:xfrm>
          <a:prstGeom prst="rect">
            <a:avLst/>
          </a:prstGeom>
          <a:noFill/>
        </p:spPr>
        <p:txBody>
          <a:bodyPr wrap="square">
            <a:spAutoFit/>
          </a:bodyPr>
          <a:lstStyle/>
          <a:p>
            <a:r>
              <a:rPr sz="1400" b="0" i="1">
                <a:solidFill>
                  <a:srgbClr val="6B727B"/>
                </a:solidFill>
                <a:latin typeface="Segoe UI"/>
              </a:rPr>
              <a:t>Every acceleration knob was measured on the rig. Several gave nothing here.</a:t>
            </a:r>
          </a:p>
        </p:txBody>
      </p:sp>
      <p:sp>
        <p:nvSpPr>
          <p:cNvPr id="6" name="TextBox 5"/>
          <p:cNvSpPr txBox="1"/>
          <p:nvPr/>
        </p:nvSpPr>
        <p:spPr>
          <a:xfrm>
            <a:off x="658368" y="6382512"/>
            <a:ext cx="10874959" cy="292608"/>
          </a:xfrm>
          <a:prstGeom prst="rect">
            <a:avLst/>
          </a:prstGeom>
          <a:noFill/>
        </p:spPr>
        <p:txBody>
          <a:bodyPr wrap="none">
            <a:spAutoFit/>
          </a:bodyPr>
          <a:lstStyle/>
          <a:p>
            <a:r>
              <a:rPr sz="900" b="0" i="0">
                <a:solidFill>
                  <a:srgbClr val="6B727B"/>
                </a:solidFill>
                <a:latin typeface="Segoe UI"/>
              </a:rPr>
              <a:t>reachAQ</a:t>
            </a:r>
          </a:p>
        </p:txBody>
      </p:sp>
      <p:sp>
        <p:nvSpPr>
          <p:cNvPr id="7" name="TextBox 6"/>
          <p:cNvSpPr txBox="1"/>
          <p:nvPr/>
        </p:nvSpPr>
        <p:spPr>
          <a:xfrm>
            <a:off x="10893247" y="6382512"/>
            <a:ext cx="640080" cy="292608"/>
          </a:xfrm>
          <a:prstGeom prst="rect">
            <a:avLst/>
          </a:prstGeom>
          <a:noFill/>
        </p:spPr>
        <p:txBody>
          <a:bodyPr wrap="none">
            <a:spAutoFit/>
          </a:bodyPr>
          <a:lstStyle/>
          <a:p>
            <a:pPr algn="r"/>
            <a:r>
              <a:rPr sz="900" b="0" i="0">
                <a:solidFill>
                  <a:srgbClr val="6B727B"/>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58368" y="457200"/>
            <a:ext cx="10874959" cy="868680"/>
          </a:xfrm>
        </p:spPr>
        <p:txBody>
          <a:bodyPr wrap="square"/>
          <a:lstStyle/>
          <a:p>
            <a:pPr algn="l"/>
            <a:r>
              <a:rPr sz="3000" b="1" i="0">
                <a:solidFill>
                  <a:srgbClr val="1E242B"/>
                </a:solidFill>
                <a:latin typeface="Segoe UI"/>
              </a:rPr>
              <a:t>Everything lands on one timebase</a:t>
            </a:r>
          </a:p>
        </p:txBody>
      </p:sp>
      <p:sp>
        <p:nvSpPr>
          <p:cNvPr id="3" name="Rectangle 2"/>
          <p:cNvSpPr/>
          <p:nvPr/>
        </p:nvSpPr>
        <p:spPr>
          <a:xfrm>
            <a:off x="658368" y="1170432"/>
            <a:ext cx="1005840" cy="38100"/>
          </a:xfrm>
          <a:prstGeom prst="rect">
            <a:avLst/>
          </a:prstGeom>
          <a:solidFill>
            <a:srgbClr val="B35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1371600"/>
            <a:ext cx="10874959" cy="457200"/>
          </a:xfrm>
          <a:prstGeom prst="rect">
            <a:avLst/>
          </a:prstGeom>
          <a:noFill/>
        </p:spPr>
        <p:txBody>
          <a:bodyPr wrap="square">
            <a:spAutoFit/>
          </a:bodyPr>
          <a:lstStyle/>
          <a:p>
            <a:r>
              <a:rPr sz="1400" b="0" i="1">
                <a:solidFill>
                  <a:srgbClr val="6B727B"/>
                </a:solidFill>
                <a:latin typeface="Segoe UI"/>
              </a:rPr>
              <a:t>Cameras, tones, pellet events and laser output are not separately timestamped and hoped to agree.</a:t>
            </a:r>
          </a:p>
        </p:txBody>
      </p:sp>
      <p:pic>
        <p:nvPicPr>
          <p:cNvPr id="5" name="Picture 4" descr="synchronization.png"/>
          <p:cNvPicPr>
            <a:picLocks noChangeAspect="1"/>
          </p:cNvPicPr>
          <p:nvPr/>
        </p:nvPicPr>
        <p:blipFill>
          <a:blip r:embed="rId2"/>
          <a:stretch>
            <a:fillRect/>
          </a:stretch>
        </p:blipFill>
        <p:spPr>
          <a:xfrm>
            <a:off x="658368" y="1847088"/>
            <a:ext cx="10874959" cy="3663144"/>
          </a:xfrm>
          <a:prstGeom prst="rect">
            <a:avLst/>
          </a:prstGeom>
        </p:spPr>
      </p:pic>
      <p:sp>
        <p:nvSpPr>
          <p:cNvPr id="6" name="TextBox 5"/>
          <p:cNvSpPr txBox="1"/>
          <p:nvPr/>
        </p:nvSpPr>
        <p:spPr>
          <a:xfrm>
            <a:off x="658368" y="5638248"/>
            <a:ext cx="10874959" cy="502920"/>
          </a:xfrm>
          <a:prstGeom prst="rect">
            <a:avLst/>
          </a:prstGeom>
          <a:noFill/>
        </p:spPr>
        <p:txBody>
          <a:bodyPr wrap="square">
            <a:spAutoFit/>
          </a:bodyPr>
          <a:lstStyle/>
          <a:p>
            <a:pPr algn="ctr"/>
            <a:r>
              <a:rPr sz="1150" b="0" i="1">
                <a:solidFill>
                  <a:srgbClr val="6B727B"/>
                </a:solidFill>
                <a:latin typeface="Segoe UI"/>
              </a:rPr>
              <a:t>Camera frame edges are matched to NI-DAQ samples with a signed offset, a resolution, and a confidence — all written into alignment.json.</a:t>
            </a:r>
          </a:p>
        </p:txBody>
      </p:sp>
      <p:sp>
        <p:nvSpPr>
          <p:cNvPr id="7" name="TextBox 6"/>
          <p:cNvSpPr txBox="1"/>
          <p:nvPr/>
        </p:nvSpPr>
        <p:spPr>
          <a:xfrm>
            <a:off x="658368" y="6382512"/>
            <a:ext cx="10874959" cy="292608"/>
          </a:xfrm>
          <a:prstGeom prst="rect">
            <a:avLst/>
          </a:prstGeom>
          <a:noFill/>
        </p:spPr>
        <p:txBody>
          <a:bodyPr wrap="none">
            <a:spAutoFit/>
          </a:bodyPr>
          <a:lstStyle/>
          <a:p>
            <a:r>
              <a:rPr sz="900" b="0" i="0">
                <a:solidFill>
                  <a:srgbClr val="6B727B"/>
                </a:solidFill>
                <a:latin typeface="Segoe UI"/>
              </a:rPr>
              <a:t>reachAQ</a:t>
            </a:r>
          </a:p>
        </p:txBody>
      </p:sp>
      <p:sp>
        <p:nvSpPr>
          <p:cNvPr id="8" name="TextBox 7"/>
          <p:cNvSpPr txBox="1"/>
          <p:nvPr/>
        </p:nvSpPr>
        <p:spPr>
          <a:xfrm>
            <a:off x="10893247" y="6382512"/>
            <a:ext cx="640080" cy="292608"/>
          </a:xfrm>
          <a:prstGeom prst="rect">
            <a:avLst/>
          </a:prstGeom>
          <a:noFill/>
        </p:spPr>
        <p:txBody>
          <a:bodyPr wrap="none">
            <a:spAutoFit/>
          </a:bodyPr>
          <a:lstStyle/>
          <a:p>
            <a:pPr algn="r"/>
            <a:r>
              <a:rPr sz="900" b="0" i="0">
                <a:solidFill>
                  <a:srgbClr val="6B727B"/>
                </a:solidFill>
                <a:latin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58368" y="457200"/>
            <a:ext cx="10874959" cy="868680"/>
          </a:xfrm>
        </p:spPr>
        <p:txBody>
          <a:bodyPr wrap="square"/>
          <a:lstStyle/>
          <a:p>
            <a:pPr algn="l"/>
            <a:r>
              <a:rPr sz="3000" b="1" i="0">
                <a:solidFill>
                  <a:srgbClr val="1E242B"/>
                </a:solidFill>
                <a:latin typeface="Segoe UI"/>
              </a:rPr>
              <a:t>Signals you can watch while the session runs</a:t>
            </a:r>
          </a:p>
        </p:txBody>
      </p:sp>
      <p:sp>
        <p:nvSpPr>
          <p:cNvPr id="3" name="Content Placeholder 2"/>
          <p:cNvSpPr>
            <a:spLocks noGrp="1"/>
          </p:cNvSpPr>
          <p:nvPr>
            <p:ph idx="1"/>
          </p:nvPr>
        </p:nvSpPr>
        <p:spPr>
          <a:xfrm>
            <a:off x="658368" y="2057400"/>
            <a:ext cx="10874959" cy="4023360"/>
          </a:xfrm>
        </p:spPr>
        <p:txBody>
          <a:bodyPr wrap="square"/>
          <a:lstStyle/>
          <a:p>
            <a:pPr>
              <a:spcAft>
                <a:spcPts val="1300"/>
              </a:spcAft>
            </a:pPr>
            <a:r>
              <a:rPr sz="1500" b="0" i="0">
                <a:solidFill>
                  <a:srgbClr val="1E242B"/>
                </a:solidFill>
                <a:latin typeface="Segoe UI"/>
              </a:rPr>
              <a:t>Tones 1, 2 and 3 as logic traces, with the commanded onset checked against the pulse the DAQ actually saw</a:t>
            </a:r>
          </a:p>
          <a:p>
            <a:pPr>
              <a:spcAft>
                <a:spcPts val="1300"/>
              </a:spcAft>
            </a:pPr>
            <a:r>
              <a:rPr sz="1500" b="0" i="0">
                <a:solidFill>
                  <a:srgbClr val="1E242B"/>
                </a:solidFill>
                <a:latin typeface="Segoe UI"/>
              </a:rPr>
              <a:t>Pellet FSR pressure — two sensors at about 83 Hz each, from firmware 2.1.0, on their own stream rather than mixed into the device log</a:t>
            </a:r>
          </a:p>
          <a:p>
            <a:pPr>
              <a:spcAft>
                <a:spcPts val="1300"/>
              </a:spcAft>
            </a:pPr>
            <a:r>
              <a:rPr sz="1500" b="0" i="0">
                <a:solidFill>
                  <a:srgbClr val="1E242B"/>
                </a:solidFill>
                <a:latin typeface="Segoe UI"/>
              </a:rPr>
              <a:t>Laser analog command alongside the diode readback, so what was asked for and what came out are on the same axis</a:t>
            </a:r>
          </a:p>
          <a:p>
            <a:pPr>
              <a:spcAft>
                <a:spcPts val="1300"/>
              </a:spcAft>
            </a:pPr>
            <a:r>
              <a:rPr sz="1500" b="0" i="0">
                <a:solidFill>
                  <a:srgbClr val="1E242B"/>
                </a:solidFill>
                <a:latin typeface="Segoe UI"/>
              </a:rPr>
              <a:t>Camera frame pulses and the barcode line, which are what tie video to samples</a:t>
            </a:r>
          </a:p>
          <a:p>
            <a:pPr>
              <a:spcAft>
                <a:spcPts val="1300"/>
              </a:spcAft>
            </a:pPr>
            <a:r>
              <a:rPr sz="1500" b="0" i="0">
                <a:solidFill>
                  <a:srgbClr val="1E242B"/>
                </a:solidFill>
                <a:latin typeface="Segoe UI"/>
              </a:rPr>
              <a:t>Closed-loop state: what the pose gate answered, when the cue fired, and whether the trial was cancelled</a:t>
            </a:r>
          </a:p>
        </p:txBody>
      </p:sp>
      <p:sp>
        <p:nvSpPr>
          <p:cNvPr id="4" name="Rectangle 3"/>
          <p:cNvSpPr/>
          <p:nvPr/>
        </p:nvSpPr>
        <p:spPr>
          <a:xfrm>
            <a:off x="658368" y="1170432"/>
            <a:ext cx="1005840" cy="38100"/>
          </a:xfrm>
          <a:prstGeom prst="rect">
            <a:avLst/>
          </a:prstGeom>
          <a:solidFill>
            <a:srgbClr val="B35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371600"/>
            <a:ext cx="10874959" cy="457200"/>
          </a:xfrm>
          <a:prstGeom prst="rect">
            <a:avLst/>
          </a:prstGeom>
          <a:noFill/>
        </p:spPr>
        <p:txBody>
          <a:bodyPr wrap="square">
            <a:spAutoFit/>
          </a:bodyPr>
          <a:lstStyle/>
          <a:p>
            <a:r>
              <a:rPr sz="1400" b="0" i="1">
                <a:solidFill>
                  <a:srgbClr val="6B727B"/>
                </a:solidFill>
                <a:latin typeface="Segoe UI"/>
              </a:rPr>
              <a:t>Everything is acquired continuously at 10 kHz and recorded unfiltered. The plot selection only changes what is drawn.</a:t>
            </a:r>
          </a:p>
        </p:txBody>
      </p:sp>
      <p:sp>
        <p:nvSpPr>
          <p:cNvPr id="6" name="TextBox 5"/>
          <p:cNvSpPr txBox="1"/>
          <p:nvPr/>
        </p:nvSpPr>
        <p:spPr>
          <a:xfrm>
            <a:off x="658368" y="6382512"/>
            <a:ext cx="10874959" cy="292608"/>
          </a:xfrm>
          <a:prstGeom prst="rect">
            <a:avLst/>
          </a:prstGeom>
          <a:noFill/>
        </p:spPr>
        <p:txBody>
          <a:bodyPr wrap="none">
            <a:spAutoFit/>
          </a:bodyPr>
          <a:lstStyle/>
          <a:p>
            <a:r>
              <a:rPr sz="900" b="0" i="0">
                <a:solidFill>
                  <a:srgbClr val="6B727B"/>
                </a:solidFill>
                <a:latin typeface="Segoe UI"/>
              </a:rPr>
              <a:t>reachAQ</a:t>
            </a:r>
          </a:p>
        </p:txBody>
      </p:sp>
      <p:sp>
        <p:nvSpPr>
          <p:cNvPr id="7" name="TextBox 6"/>
          <p:cNvSpPr txBox="1"/>
          <p:nvPr/>
        </p:nvSpPr>
        <p:spPr>
          <a:xfrm>
            <a:off x="10893247" y="6382512"/>
            <a:ext cx="640080" cy="292608"/>
          </a:xfrm>
          <a:prstGeom prst="rect">
            <a:avLst/>
          </a:prstGeom>
          <a:noFill/>
        </p:spPr>
        <p:txBody>
          <a:bodyPr wrap="none">
            <a:spAutoFit/>
          </a:bodyPr>
          <a:lstStyle/>
          <a:p>
            <a:pPr algn="r"/>
            <a:r>
              <a:rPr sz="900" b="0" i="0">
                <a:solidFill>
                  <a:srgbClr val="6B727B"/>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58368" y="457200"/>
            <a:ext cx="10874959" cy="868680"/>
          </a:xfrm>
        </p:spPr>
        <p:txBody>
          <a:bodyPr wrap="square"/>
          <a:lstStyle/>
          <a:p>
            <a:pPr algn="l"/>
            <a:r>
              <a:rPr sz="3000" b="1" i="0">
                <a:solidFill>
                  <a:srgbClr val="1E242B"/>
                </a:solidFill>
                <a:latin typeface="Segoe UI"/>
              </a:rPr>
              <a:t>Experiments are composed, not copied</a:t>
            </a:r>
          </a:p>
        </p:txBody>
      </p:sp>
      <p:sp>
        <p:nvSpPr>
          <p:cNvPr id="3" name="Content Placeholder 2"/>
          <p:cNvSpPr>
            <a:spLocks noGrp="1"/>
          </p:cNvSpPr>
          <p:nvPr>
            <p:ph idx="1"/>
          </p:nvPr>
        </p:nvSpPr>
        <p:spPr>
          <a:xfrm>
            <a:off x="658368" y="2057400"/>
            <a:ext cx="10874959" cy="4023360"/>
          </a:xfrm>
        </p:spPr>
        <p:txBody>
          <a:bodyPr wrap="square"/>
          <a:lstStyle/>
          <a:p>
            <a:pPr>
              <a:spcAft>
                <a:spcPts val="1300"/>
              </a:spcAft>
            </a:pPr>
            <a:r>
              <a:rPr sz="1500" b="0" i="0">
                <a:solidFill>
                  <a:srgbClr val="1E242B"/>
                </a:solidFill>
                <a:latin typeface="Segoe UI"/>
              </a:rPr>
              <a:t>A trial set is a reusable group of trials, saved on its own — trial content only, no epochs or blocks</a:t>
            </a:r>
          </a:p>
          <a:p>
            <a:pPr>
              <a:spcAft>
                <a:spcPts val="1300"/>
              </a:spcAft>
            </a:pPr>
            <a:r>
              <a:rPr sz="1500" b="0" i="0">
                <a:solidFill>
                  <a:srgbClr val="1E242B"/>
                </a:solidFill>
                <a:latin typeface="Segoe UI"/>
              </a:rPr>
              <a:t>An experiment is an ordered list of set appearances; each entry pins the set revision it was built against, can repeat, and can shuffle trial order within an appearance</a:t>
            </a:r>
          </a:p>
          <a:p>
            <a:pPr>
              <a:spcAft>
                <a:spcPts val="1300"/>
              </a:spcAft>
            </a:pPr>
            <a:r>
              <a:rPr sz="1500" b="0" i="0">
                <a:solidFill>
                  <a:srgbClr val="1E242B"/>
                </a:solidFill>
                <a:latin typeface="Segoe UI"/>
              </a:rPr>
              <a:t>Compiling flattens it into an ordinary protocol document, so the runner, the schedule and session evidence see nothing new</a:t>
            </a:r>
          </a:p>
          <a:p>
            <a:pPr>
              <a:spcAft>
                <a:spcPts val="1300"/>
              </a:spcAft>
            </a:pPr>
            <a:r>
              <a:rPr sz="1500" b="0" i="0">
                <a:solidFill>
                  <a:srgbClr val="1E242B"/>
                </a:solidFill>
                <a:latin typeface="Segoe UI"/>
              </a:rPr>
              <a:t>Each appearance becomes a named epoch, and the Sources column names the set every value came from</a:t>
            </a:r>
          </a:p>
          <a:p>
            <a:pPr>
              <a:spcAft>
                <a:spcPts val="1300"/>
              </a:spcAft>
            </a:pPr>
            <a:r>
              <a:rPr sz="1500" b="0" i="0">
                <a:solidFill>
                  <a:srgbClr val="1E242B"/>
                </a:solidFill>
                <a:latin typeface="Segoe UI"/>
              </a:rPr>
              <a:t>Shuffle seeds are stored on the entry, so a compile can always be repeated exactly</a:t>
            </a:r>
          </a:p>
          <a:p>
            <a:pPr>
              <a:spcAft>
                <a:spcPts val="1300"/>
              </a:spcAft>
            </a:pPr>
            <a:r>
              <a:rPr sz="1500" b="0" i="0">
                <a:solidFill>
                  <a:srgbClr val="1E242B"/>
                </a:solidFill>
                <a:latin typeface="Segoe UI"/>
              </a:rPr>
              <a:t>Editing a set never repins an existing row; a stale pin is visible, and a compile against a changed set is refused rather than silently different</a:t>
            </a:r>
          </a:p>
        </p:txBody>
      </p:sp>
      <p:sp>
        <p:nvSpPr>
          <p:cNvPr id="4" name="Rectangle 3"/>
          <p:cNvSpPr/>
          <p:nvPr/>
        </p:nvSpPr>
        <p:spPr>
          <a:xfrm>
            <a:off x="658368" y="1170432"/>
            <a:ext cx="1005840" cy="38100"/>
          </a:xfrm>
          <a:prstGeom prst="rect">
            <a:avLst/>
          </a:prstGeom>
          <a:solidFill>
            <a:srgbClr val="B35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371600"/>
            <a:ext cx="10874959" cy="457200"/>
          </a:xfrm>
          <a:prstGeom prst="rect">
            <a:avLst/>
          </a:prstGeom>
          <a:noFill/>
        </p:spPr>
        <p:txBody>
          <a:bodyPr wrap="square">
            <a:spAutoFit/>
          </a:bodyPr>
          <a:lstStyle/>
          <a:p>
            <a:r>
              <a:rPr sz="1400" b="0" i="1">
                <a:solidFill>
                  <a:srgbClr val="6B727B"/>
                </a:solidFill>
                <a:latin typeface="Segoe UI"/>
              </a:rPr>
              <a:t>A phase shared by several experiments is written once.</a:t>
            </a:r>
          </a:p>
        </p:txBody>
      </p:sp>
      <p:sp>
        <p:nvSpPr>
          <p:cNvPr id="6" name="TextBox 5"/>
          <p:cNvSpPr txBox="1"/>
          <p:nvPr/>
        </p:nvSpPr>
        <p:spPr>
          <a:xfrm>
            <a:off x="658368" y="6382512"/>
            <a:ext cx="10874959" cy="292608"/>
          </a:xfrm>
          <a:prstGeom prst="rect">
            <a:avLst/>
          </a:prstGeom>
          <a:noFill/>
        </p:spPr>
        <p:txBody>
          <a:bodyPr wrap="none">
            <a:spAutoFit/>
          </a:bodyPr>
          <a:lstStyle/>
          <a:p>
            <a:r>
              <a:rPr sz="900" b="0" i="0">
                <a:solidFill>
                  <a:srgbClr val="6B727B"/>
                </a:solidFill>
                <a:latin typeface="Segoe UI"/>
              </a:rPr>
              <a:t>reachAQ</a:t>
            </a:r>
          </a:p>
        </p:txBody>
      </p:sp>
      <p:sp>
        <p:nvSpPr>
          <p:cNvPr id="7" name="TextBox 6"/>
          <p:cNvSpPr txBox="1"/>
          <p:nvPr/>
        </p:nvSpPr>
        <p:spPr>
          <a:xfrm>
            <a:off x="10893247" y="6382512"/>
            <a:ext cx="640080" cy="292608"/>
          </a:xfrm>
          <a:prstGeom prst="rect">
            <a:avLst/>
          </a:prstGeom>
          <a:noFill/>
        </p:spPr>
        <p:txBody>
          <a:bodyPr wrap="none">
            <a:spAutoFit/>
          </a:bodyPr>
          <a:lstStyle/>
          <a:p>
            <a:pPr algn="r"/>
            <a:r>
              <a:rPr sz="900" b="0" i="0">
                <a:solidFill>
                  <a:srgbClr val="6B727B"/>
                </a:solidFill>
                <a:latin typeface="Segoe U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58368" y="457200"/>
            <a:ext cx="10874959" cy="868680"/>
          </a:xfrm>
        </p:spPr>
        <p:txBody>
          <a:bodyPr wrap="square"/>
          <a:lstStyle/>
          <a:p>
            <a:pPr algn="l"/>
            <a:r>
              <a:rPr sz="3000" b="1" i="0">
                <a:solidFill>
                  <a:srgbClr val="1E242B"/>
                </a:solidFill>
                <a:latin typeface="Segoe UI"/>
              </a:rPr>
              <a:t>Demo — recorded video, everything else live</a:t>
            </a:r>
          </a:p>
        </p:txBody>
      </p:sp>
      <p:sp>
        <p:nvSpPr>
          <p:cNvPr id="3" name="Rectangle 2"/>
          <p:cNvSpPr/>
          <p:nvPr/>
        </p:nvSpPr>
        <p:spPr>
          <a:xfrm>
            <a:off x="658368" y="1170432"/>
            <a:ext cx="1005840" cy="38100"/>
          </a:xfrm>
          <a:prstGeom prst="rect">
            <a:avLst/>
          </a:prstGeom>
          <a:solidFill>
            <a:srgbClr val="B35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1371600"/>
            <a:ext cx="10874959" cy="457200"/>
          </a:xfrm>
          <a:prstGeom prst="rect">
            <a:avLst/>
          </a:prstGeom>
          <a:noFill/>
        </p:spPr>
        <p:txBody>
          <a:bodyPr wrap="square">
            <a:spAutoFit/>
          </a:bodyPr>
          <a:lstStyle/>
          <a:p>
            <a:r>
              <a:rPr sz="1400" b="0" i="1">
                <a:solidFill>
                  <a:srgbClr val="6B727B"/>
                </a:solidFill>
                <a:latin typeface="Segoe UI"/>
              </a:rPr>
              <a:t>No animal today, so the camera frames are played from a recorded session. Exactly one stage is substituted.</a:t>
            </a:r>
          </a:p>
        </p:txBody>
      </p:sp>
      <p:pic>
        <p:nvPicPr>
          <p:cNvPr id="5" name="Picture 4" descr="live_overlay.png"/>
          <p:cNvPicPr>
            <a:picLocks noChangeAspect="1"/>
          </p:cNvPicPr>
          <p:nvPr/>
        </p:nvPicPr>
        <p:blipFill>
          <a:blip r:embed="rId2"/>
          <a:stretch>
            <a:fillRect/>
          </a:stretch>
        </p:blipFill>
        <p:spPr>
          <a:xfrm>
            <a:off x="1202283" y="1847088"/>
            <a:ext cx="9787128" cy="3822192"/>
          </a:xfrm>
          <a:prstGeom prst="rect">
            <a:avLst/>
          </a:prstGeom>
        </p:spPr>
      </p:pic>
      <p:sp>
        <p:nvSpPr>
          <p:cNvPr id="6" name="TextBox 5"/>
          <p:cNvSpPr txBox="1"/>
          <p:nvPr/>
        </p:nvSpPr>
        <p:spPr>
          <a:xfrm>
            <a:off x="658368" y="5797296"/>
            <a:ext cx="10874959" cy="502920"/>
          </a:xfrm>
          <a:prstGeom prst="rect">
            <a:avLst/>
          </a:prstGeom>
          <a:noFill/>
        </p:spPr>
        <p:txBody>
          <a:bodyPr wrap="square">
            <a:spAutoFit/>
          </a:bodyPr>
          <a:lstStyle/>
          <a:p>
            <a:pPr algn="ctr"/>
            <a:r>
              <a:rPr sz="1150" b="0" i="1">
                <a:solidFill>
                  <a:srgbClr val="6B727B"/>
                </a:solidFill>
                <a:latin typeface="Segoe UI"/>
              </a:rPr>
              <a:t>Live 2D pose, per view, computed on the GPU from the played frames. Captured from the running application on the rig.</a:t>
            </a:r>
          </a:p>
        </p:txBody>
      </p:sp>
      <p:sp>
        <p:nvSpPr>
          <p:cNvPr id="7" name="TextBox 6"/>
          <p:cNvSpPr txBox="1"/>
          <p:nvPr/>
        </p:nvSpPr>
        <p:spPr>
          <a:xfrm>
            <a:off x="658368" y="6382512"/>
            <a:ext cx="10874959" cy="292608"/>
          </a:xfrm>
          <a:prstGeom prst="rect">
            <a:avLst/>
          </a:prstGeom>
          <a:noFill/>
        </p:spPr>
        <p:txBody>
          <a:bodyPr wrap="none">
            <a:spAutoFit/>
          </a:bodyPr>
          <a:lstStyle/>
          <a:p>
            <a:r>
              <a:rPr sz="900" b="0" i="0">
                <a:solidFill>
                  <a:srgbClr val="6B727B"/>
                </a:solidFill>
                <a:latin typeface="Segoe UI"/>
              </a:rPr>
              <a:t>reachAQ</a:t>
            </a:r>
          </a:p>
        </p:txBody>
      </p:sp>
      <p:sp>
        <p:nvSpPr>
          <p:cNvPr id="8" name="TextBox 7"/>
          <p:cNvSpPr txBox="1"/>
          <p:nvPr/>
        </p:nvSpPr>
        <p:spPr>
          <a:xfrm>
            <a:off x="10893247" y="6382512"/>
            <a:ext cx="640080" cy="292608"/>
          </a:xfrm>
          <a:prstGeom prst="rect">
            <a:avLst/>
          </a:prstGeom>
          <a:noFill/>
        </p:spPr>
        <p:txBody>
          <a:bodyPr wrap="none">
            <a:spAutoFit/>
          </a:bodyPr>
          <a:lstStyle/>
          <a:p>
            <a:pPr algn="r"/>
            <a:r>
              <a:rPr sz="900" b="0" i="0">
                <a:solidFill>
                  <a:srgbClr val="6B727B"/>
                </a:solidFill>
                <a:latin typeface="Segoe UI"/>
              </a:rP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